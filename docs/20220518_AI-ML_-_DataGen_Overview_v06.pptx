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358" r:id="rId2"/>
    <p:sldId id="650" r:id="rId3"/>
    <p:sldId id="652" r:id="rId4"/>
    <p:sldId id="656" r:id="rId5"/>
    <p:sldId id="659" r:id="rId6"/>
    <p:sldId id="657" r:id="rId7"/>
    <p:sldId id="660" r:id="rId8"/>
    <p:sldId id="661" r:id="rId9"/>
    <p:sldId id="635" r:id="rId10"/>
    <p:sldId id="668" r:id="rId11"/>
    <p:sldId id="669" r:id="rId12"/>
    <p:sldId id="670" r:id="rId13"/>
    <p:sldId id="671" r:id="rId14"/>
    <p:sldId id="672" r:id="rId15"/>
    <p:sldId id="673" r:id="rId16"/>
    <p:sldId id="674" r:id="rId17"/>
    <p:sldId id="662" r:id="rId18"/>
    <p:sldId id="676" r:id="rId19"/>
    <p:sldId id="675" r:id="rId20"/>
    <p:sldId id="663" r:id="rId21"/>
    <p:sldId id="664" r:id="rId22"/>
    <p:sldId id="666" r:id="rId23"/>
    <p:sldId id="667" r:id="rId24"/>
    <p:sldId id="452" r:id="rId25"/>
    <p:sldId id="65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an Barnard" initials="AB" lastIdx="1" clrIdx="0">
    <p:extLst>
      <p:ext uri="{19B8F6BF-5375-455C-9EA6-DF929625EA0E}">
        <p15:presenceInfo xmlns:p15="http://schemas.microsoft.com/office/powerpoint/2012/main" userId="6d273ca9b237b3a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FFCC66"/>
    <a:srgbClr val="FF9999"/>
    <a:srgbClr val="F513D5"/>
    <a:srgbClr val="FF0000"/>
    <a:srgbClr val="FFC5B7"/>
    <a:srgbClr val="FF9933"/>
    <a:srgbClr val="FF33CC"/>
    <a:srgbClr val="E0E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99" autoAdjust="0"/>
    <p:restoredTop sz="94660"/>
  </p:normalViewPr>
  <p:slideViewPr>
    <p:cSldViewPr showGuides="1">
      <p:cViewPr varScale="1">
        <p:scale>
          <a:sx n="141" d="100"/>
          <a:sy n="141" d="100"/>
        </p:scale>
        <p:origin x="132" y="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7910C8-4AF7-4098-87CF-ADACC7D11FC1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</dgm:pt>
    <dgm:pt modelId="{6D35D0EA-15C0-451E-BE10-16701397A956}">
      <dgm:prSet phldrT="[Text]" custT="1"/>
      <dgm:spPr/>
      <dgm:t>
        <a:bodyPr/>
        <a:lstStyle/>
        <a:p>
          <a:pPr>
            <a:lnSpc>
              <a:spcPct val="100000"/>
            </a:lnSpc>
            <a:spcBef>
              <a:spcPts val="1600"/>
            </a:spcBef>
            <a:spcAft>
              <a:spcPts val="0"/>
            </a:spcAft>
          </a:pPr>
          <a:r>
            <a:rPr lang="en-US" sz="1200" dirty="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Calendar</a:t>
          </a:r>
        </a:p>
      </dgm:t>
    </dgm:pt>
    <dgm:pt modelId="{B31F66A1-AB81-4941-BEC8-97C19405E057}" type="par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CCC2BD-01E7-444E-ACB6-0CE79115E516}" type="sib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237008-AC03-4369-8D4B-9C00E43EC680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gm:t>
    </dgm:pt>
    <dgm:pt modelId="{2E2285CF-F8F8-4B58-9133-67EDE14C1B03}" type="par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D6239B-59D9-4850-A798-F68A02CC3FEF}" type="sib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355C51-3EAE-4E45-AADD-A56697E8C11A}">
      <dgm:prSet phldrT="[Text]" custT="1"/>
      <dgm:spPr>
        <a:solidFill>
          <a:srgbClr val="FF9999">
            <a:alpha val="63333"/>
          </a:srgbClr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gm:t>
    </dgm:pt>
    <dgm:pt modelId="{A9358E48-B0C5-4E49-BA0C-486A8B3B6F4F}" type="par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4F9069-EFFD-4B0F-84AC-AC9A486EDED4}" type="sib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51814E-4DF2-4CA7-82CF-D253900009DC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gm:t>
    </dgm:pt>
    <dgm:pt modelId="{21BF7098-E5B5-4E6D-A35D-F2B126815D1C}" type="par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68CC9B-0F6B-4CC6-B38B-BF8966904D2C}" type="sib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EDAEF2-FC70-4B33-9596-B71943634A85}" type="pres">
      <dgm:prSet presAssocID="{D77910C8-4AF7-4098-87CF-ADACC7D11FC1}" presName="Name0" presStyleCnt="0">
        <dgm:presLayoutVars>
          <dgm:dir/>
          <dgm:animLvl val="lvl"/>
          <dgm:resizeHandles val="exact"/>
        </dgm:presLayoutVars>
      </dgm:prSet>
      <dgm:spPr/>
    </dgm:pt>
    <dgm:pt modelId="{ABB51AD6-7C9C-4DFC-B52A-12F749B831A4}" type="pres">
      <dgm:prSet presAssocID="{6D35D0EA-15C0-451E-BE10-16701397A956}" presName="Name8" presStyleCnt="0"/>
      <dgm:spPr/>
    </dgm:pt>
    <dgm:pt modelId="{5F922517-AB70-47D8-AFD0-F567B935FD59}" type="pres">
      <dgm:prSet presAssocID="{6D35D0EA-15C0-451E-BE10-16701397A956}" presName="level" presStyleLbl="node1" presStyleIdx="0" presStyleCnt="4" custLinFactNeighborX="0" custLinFactNeighborY="-2280">
        <dgm:presLayoutVars>
          <dgm:chMax val="1"/>
          <dgm:bulletEnabled val="1"/>
        </dgm:presLayoutVars>
      </dgm:prSet>
      <dgm:spPr/>
    </dgm:pt>
    <dgm:pt modelId="{B89804FC-7566-49C9-B752-C8A2F24D1B36}" type="pres">
      <dgm:prSet presAssocID="{6D35D0EA-15C0-451E-BE10-16701397A95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CAD88E4-55FE-414E-8D66-BD5CC53EBE90}" type="pres">
      <dgm:prSet presAssocID="{8B237008-AC03-4369-8D4B-9C00E43EC680}" presName="Name8" presStyleCnt="0"/>
      <dgm:spPr/>
    </dgm:pt>
    <dgm:pt modelId="{A9F0F881-04F2-4DC8-BCDC-4E2462C38064}" type="pres">
      <dgm:prSet presAssocID="{8B237008-AC03-4369-8D4B-9C00E43EC680}" presName="level" presStyleLbl="node1" presStyleIdx="1" presStyleCnt="4">
        <dgm:presLayoutVars>
          <dgm:chMax val="1"/>
          <dgm:bulletEnabled val="1"/>
        </dgm:presLayoutVars>
      </dgm:prSet>
      <dgm:spPr/>
    </dgm:pt>
    <dgm:pt modelId="{FEDC944D-72F6-4357-828E-4FB6D0F2E88A}" type="pres">
      <dgm:prSet presAssocID="{8B237008-AC03-4369-8D4B-9C00E43EC68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CFB3B68-58D2-4FBB-A976-4140A459A646}" type="pres">
      <dgm:prSet presAssocID="{E5355C51-3EAE-4E45-AADD-A56697E8C11A}" presName="Name8" presStyleCnt="0"/>
      <dgm:spPr/>
    </dgm:pt>
    <dgm:pt modelId="{B6258CE9-B758-4C48-86A8-676F6839F9E5}" type="pres">
      <dgm:prSet presAssocID="{E5355C51-3EAE-4E45-AADD-A56697E8C11A}" presName="level" presStyleLbl="node1" presStyleIdx="2" presStyleCnt="4">
        <dgm:presLayoutVars>
          <dgm:chMax val="1"/>
          <dgm:bulletEnabled val="1"/>
        </dgm:presLayoutVars>
      </dgm:prSet>
      <dgm:spPr/>
    </dgm:pt>
    <dgm:pt modelId="{8F23F39E-8CF3-4DFB-9A67-0401AF28BC16}" type="pres">
      <dgm:prSet presAssocID="{E5355C51-3EAE-4E45-AADD-A56697E8C11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0D6774D-875F-48DD-A7E3-3BDED74FA053}" type="pres">
      <dgm:prSet presAssocID="{DA51814E-4DF2-4CA7-82CF-D253900009DC}" presName="Name8" presStyleCnt="0"/>
      <dgm:spPr/>
    </dgm:pt>
    <dgm:pt modelId="{EF3B542A-5013-4AEF-8B04-14A06E0D61F4}" type="pres">
      <dgm:prSet presAssocID="{DA51814E-4DF2-4CA7-82CF-D253900009DC}" presName="level" presStyleLbl="node1" presStyleIdx="3" presStyleCnt="4">
        <dgm:presLayoutVars>
          <dgm:chMax val="1"/>
          <dgm:bulletEnabled val="1"/>
        </dgm:presLayoutVars>
      </dgm:prSet>
      <dgm:spPr/>
    </dgm:pt>
    <dgm:pt modelId="{25440234-9E7F-4BF4-919A-C7A6070A87E4}" type="pres">
      <dgm:prSet presAssocID="{DA51814E-4DF2-4CA7-82CF-D253900009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9E44304-F86E-4A7B-AF40-88E5545AEB2C}" srcId="{D77910C8-4AF7-4098-87CF-ADACC7D11FC1}" destId="{DA51814E-4DF2-4CA7-82CF-D253900009DC}" srcOrd="3" destOrd="0" parTransId="{21BF7098-E5B5-4E6D-A35D-F2B126815D1C}" sibTransId="{C268CC9B-0F6B-4CC6-B38B-BF8966904D2C}"/>
    <dgm:cxn modelId="{463D4E0A-F8C8-4E20-A186-6A29FB462884}" srcId="{D77910C8-4AF7-4098-87CF-ADACC7D11FC1}" destId="{6D35D0EA-15C0-451E-BE10-16701397A956}" srcOrd="0" destOrd="0" parTransId="{B31F66A1-AB81-4941-BEC8-97C19405E057}" sibTransId="{4ACCC2BD-01E7-444E-ACB6-0CE79115E516}"/>
    <dgm:cxn modelId="{9604AB2F-EB3C-414A-AB8E-D84B8880D222}" srcId="{D77910C8-4AF7-4098-87CF-ADACC7D11FC1}" destId="{E5355C51-3EAE-4E45-AADD-A56697E8C11A}" srcOrd="2" destOrd="0" parTransId="{A9358E48-B0C5-4E49-BA0C-486A8B3B6F4F}" sibTransId="{004F9069-EFFD-4B0F-84AC-AC9A486EDED4}"/>
    <dgm:cxn modelId="{0238DF65-32B7-4227-B831-F3495EF2021D}" type="presOf" srcId="{D77910C8-4AF7-4098-87CF-ADACC7D11FC1}" destId="{5CEDAEF2-FC70-4B33-9596-B71943634A85}" srcOrd="0" destOrd="0" presId="urn:microsoft.com/office/officeart/2005/8/layout/pyramid1"/>
    <dgm:cxn modelId="{13791255-9F57-40B4-84FF-8AF69685BE43}" type="presOf" srcId="{DA51814E-4DF2-4CA7-82CF-D253900009DC}" destId="{25440234-9E7F-4BF4-919A-C7A6070A87E4}" srcOrd="1" destOrd="0" presId="urn:microsoft.com/office/officeart/2005/8/layout/pyramid1"/>
    <dgm:cxn modelId="{D925EC90-FDA4-4DBF-A156-C9BF51662C10}" type="presOf" srcId="{6D35D0EA-15C0-451E-BE10-16701397A956}" destId="{5F922517-AB70-47D8-AFD0-F567B935FD59}" srcOrd="0" destOrd="0" presId="urn:microsoft.com/office/officeart/2005/8/layout/pyramid1"/>
    <dgm:cxn modelId="{306047A0-7D44-4635-A5ED-CC1A0DC9AEED}" type="presOf" srcId="{8B237008-AC03-4369-8D4B-9C00E43EC680}" destId="{A9F0F881-04F2-4DC8-BCDC-4E2462C38064}" srcOrd="0" destOrd="0" presId="urn:microsoft.com/office/officeart/2005/8/layout/pyramid1"/>
    <dgm:cxn modelId="{C3EBF4AF-A4ED-44C4-B7F1-BAB710EC5762}" type="presOf" srcId="{E5355C51-3EAE-4E45-AADD-A56697E8C11A}" destId="{B6258CE9-B758-4C48-86A8-676F6839F9E5}" srcOrd="0" destOrd="0" presId="urn:microsoft.com/office/officeart/2005/8/layout/pyramid1"/>
    <dgm:cxn modelId="{567E1DB6-D879-4ADD-8960-099B3DE008C5}" type="presOf" srcId="{E5355C51-3EAE-4E45-AADD-A56697E8C11A}" destId="{8F23F39E-8CF3-4DFB-9A67-0401AF28BC16}" srcOrd="1" destOrd="0" presId="urn:microsoft.com/office/officeart/2005/8/layout/pyramid1"/>
    <dgm:cxn modelId="{33D9ACC7-118C-43FC-BAE0-DE16E74BE2DF}" type="presOf" srcId="{6D35D0EA-15C0-451E-BE10-16701397A956}" destId="{B89804FC-7566-49C9-B752-C8A2F24D1B36}" srcOrd="1" destOrd="0" presId="urn:microsoft.com/office/officeart/2005/8/layout/pyramid1"/>
    <dgm:cxn modelId="{4B090EEE-7CA2-4795-84A7-88F83799A532}" type="presOf" srcId="{8B237008-AC03-4369-8D4B-9C00E43EC680}" destId="{FEDC944D-72F6-4357-828E-4FB6D0F2E88A}" srcOrd="1" destOrd="0" presId="urn:microsoft.com/office/officeart/2005/8/layout/pyramid1"/>
    <dgm:cxn modelId="{D9A9E7F2-5BFB-4397-93C9-5E7EAD2C2220}" type="presOf" srcId="{DA51814E-4DF2-4CA7-82CF-D253900009DC}" destId="{EF3B542A-5013-4AEF-8B04-14A06E0D61F4}" srcOrd="0" destOrd="0" presId="urn:microsoft.com/office/officeart/2005/8/layout/pyramid1"/>
    <dgm:cxn modelId="{756E9CFF-F257-4ADC-8352-D8770FD35773}" srcId="{D77910C8-4AF7-4098-87CF-ADACC7D11FC1}" destId="{8B237008-AC03-4369-8D4B-9C00E43EC680}" srcOrd="1" destOrd="0" parTransId="{2E2285CF-F8F8-4B58-9133-67EDE14C1B03}" sibTransId="{2FD6239B-59D9-4850-A798-F68A02CC3FEF}"/>
    <dgm:cxn modelId="{647D9EEF-15D7-4BFC-B700-1D5C7D3916AE}" type="presParOf" srcId="{5CEDAEF2-FC70-4B33-9596-B71943634A85}" destId="{ABB51AD6-7C9C-4DFC-B52A-12F749B831A4}" srcOrd="0" destOrd="0" presId="urn:microsoft.com/office/officeart/2005/8/layout/pyramid1"/>
    <dgm:cxn modelId="{96190FFF-1F60-4F6E-A154-1FB2C1051655}" type="presParOf" srcId="{ABB51AD6-7C9C-4DFC-B52A-12F749B831A4}" destId="{5F922517-AB70-47D8-AFD0-F567B935FD59}" srcOrd="0" destOrd="0" presId="urn:microsoft.com/office/officeart/2005/8/layout/pyramid1"/>
    <dgm:cxn modelId="{BDB9FDFA-2C78-48C7-B4C6-C46437D896A3}" type="presParOf" srcId="{ABB51AD6-7C9C-4DFC-B52A-12F749B831A4}" destId="{B89804FC-7566-49C9-B752-C8A2F24D1B36}" srcOrd="1" destOrd="0" presId="urn:microsoft.com/office/officeart/2005/8/layout/pyramid1"/>
    <dgm:cxn modelId="{9B602581-C4CF-48CC-BD69-872EEE4F84E6}" type="presParOf" srcId="{5CEDAEF2-FC70-4B33-9596-B71943634A85}" destId="{8CAD88E4-55FE-414E-8D66-BD5CC53EBE90}" srcOrd="1" destOrd="0" presId="urn:microsoft.com/office/officeart/2005/8/layout/pyramid1"/>
    <dgm:cxn modelId="{70DDBB4A-A2AD-42C2-A004-5B151ABAE5AD}" type="presParOf" srcId="{8CAD88E4-55FE-414E-8D66-BD5CC53EBE90}" destId="{A9F0F881-04F2-4DC8-BCDC-4E2462C38064}" srcOrd="0" destOrd="0" presId="urn:microsoft.com/office/officeart/2005/8/layout/pyramid1"/>
    <dgm:cxn modelId="{B1624CD9-5E9F-4E79-B672-55BF10DA266F}" type="presParOf" srcId="{8CAD88E4-55FE-414E-8D66-BD5CC53EBE90}" destId="{FEDC944D-72F6-4357-828E-4FB6D0F2E88A}" srcOrd="1" destOrd="0" presId="urn:microsoft.com/office/officeart/2005/8/layout/pyramid1"/>
    <dgm:cxn modelId="{FB11249D-3D03-4D90-8433-1409401B3BDD}" type="presParOf" srcId="{5CEDAEF2-FC70-4B33-9596-B71943634A85}" destId="{6CFB3B68-58D2-4FBB-A976-4140A459A646}" srcOrd="2" destOrd="0" presId="urn:microsoft.com/office/officeart/2005/8/layout/pyramid1"/>
    <dgm:cxn modelId="{4F8D35EC-295F-4A0B-8BDB-1993DE88EB5C}" type="presParOf" srcId="{6CFB3B68-58D2-4FBB-A976-4140A459A646}" destId="{B6258CE9-B758-4C48-86A8-676F6839F9E5}" srcOrd="0" destOrd="0" presId="urn:microsoft.com/office/officeart/2005/8/layout/pyramid1"/>
    <dgm:cxn modelId="{B45B470D-E7A0-4DD6-8302-E90DF636B671}" type="presParOf" srcId="{6CFB3B68-58D2-4FBB-A976-4140A459A646}" destId="{8F23F39E-8CF3-4DFB-9A67-0401AF28BC16}" srcOrd="1" destOrd="0" presId="urn:microsoft.com/office/officeart/2005/8/layout/pyramid1"/>
    <dgm:cxn modelId="{C9D6F83E-0CBA-44C4-B59C-39E5293E7BAC}" type="presParOf" srcId="{5CEDAEF2-FC70-4B33-9596-B71943634A85}" destId="{C0D6774D-875F-48DD-A7E3-3BDED74FA053}" srcOrd="3" destOrd="0" presId="urn:microsoft.com/office/officeart/2005/8/layout/pyramid1"/>
    <dgm:cxn modelId="{31B71293-45D1-4450-BA79-0033D294C0C0}" type="presParOf" srcId="{C0D6774D-875F-48DD-A7E3-3BDED74FA053}" destId="{EF3B542A-5013-4AEF-8B04-14A06E0D61F4}" srcOrd="0" destOrd="0" presId="urn:microsoft.com/office/officeart/2005/8/layout/pyramid1"/>
    <dgm:cxn modelId="{6F61C8C5-059A-4AD1-BB86-3A16A00CF1E7}" type="presParOf" srcId="{C0D6774D-875F-48DD-A7E3-3BDED74FA053}" destId="{25440234-9E7F-4BF4-919A-C7A6070A87E4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7910C8-4AF7-4098-87CF-ADACC7D11FC1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</dgm:pt>
    <dgm:pt modelId="{6D35D0EA-15C0-451E-BE10-16701397A956}">
      <dgm:prSet phldrT="[Text]" custT="1"/>
      <dgm:spPr/>
      <dgm:t>
        <a:bodyPr/>
        <a:lstStyle/>
        <a:p>
          <a:pPr>
            <a:lnSpc>
              <a:spcPct val="100000"/>
            </a:lnSpc>
            <a:spcBef>
              <a:spcPts val="1600"/>
            </a:spcBef>
            <a:spcAft>
              <a:spcPts val="0"/>
            </a:spcAft>
          </a:pPr>
          <a:r>
            <a:rPr lang="en-US" sz="120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200" b="1">
              <a:latin typeface="Arial Narrow" panose="020B0606020202030204" pitchFamily="34" charset="0"/>
              <a:cs typeface="Arial" panose="020B0604020202020204" pitchFamily="34" charset="0"/>
            </a:rPr>
            <a:t>Calendar</a:t>
          </a:r>
          <a:endParaRPr lang="en-US" sz="1200" b="1" dirty="0"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B31F66A1-AB81-4941-BEC8-97C19405E057}" type="par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CCC2BD-01E7-444E-ACB6-0CE79115E516}" type="sib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237008-AC03-4369-8D4B-9C00E43EC680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gm:t>
    </dgm:pt>
    <dgm:pt modelId="{2E2285CF-F8F8-4B58-9133-67EDE14C1B03}" type="par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D6239B-59D9-4850-A798-F68A02CC3FEF}" type="sib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355C51-3EAE-4E45-AADD-A56697E8C11A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gm:t>
    </dgm:pt>
    <dgm:pt modelId="{A9358E48-B0C5-4E49-BA0C-486A8B3B6F4F}" type="par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4F9069-EFFD-4B0F-84AC-AC9A486EDED4}" type="sib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51814E-4DF2-4CA7-82CF-D253900009DC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gm:t>
    </dgm:pt>
    <dgm:pt modelId="{21BF7098-E5B5-4E6D-A35D-F2B126815D1C}" type="par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68CC9B-0F6B-4CC6-B38B-BF8966904D2C}" type="sib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DB4944-D82F-4A4D-A3AB-94BA326A002A}">
      <dgm:prSet phldrT="[Text]" custT="1"/>
      <dgm:spPr>
        <a:solidFill>
          <a:srgbClr val="FF9999">
            <a:alpha val="63333"/>
          </a:srgbClr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II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(additional calculations that span periods) </a:t>
          </a:r>
        </a:p>
      </dgm:t>
    </dgm:pt>
    <dgm:pt modelId="{0EDE795A-1A24-452E-B622-06490E6FFE3F}" type="parTrans" cxnId="{FDBAD2AE-6D7C-46C0-99A3-EF9D14E029C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78DA6E-FBD0-4C8F-86EF-55669C591AD4}" type="sibTrans" cxnId="{FDBAD2AE-6D7C-46C0-99A3-EF9D14E029C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65129C-DA59-40A0-9655-D4ECBFFFB3C2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Engine / Solution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(AI/ML, Linear Algebra, Heuristics)</a:t>
          </a:r>
        </a:p>
      </dgm:t>
    </dgm:pt>
    <dgm:pt modelId="{818D9273-10F2-4AB6-8BA4-F54BEA33B12C}" type="parTrans" cxnId="{E8666E8E-281E-4068-8D4F-08D7383A64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8F5C94-87C4-4C6A-A38A-8F941264500E}" type="sibTrans" cxnId="{E8666E8E-281E-4068-8D4F-08D7383A64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4C5BF7-D4C0-4798-949E-7ABABD0EA7D4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Actionable Intelligence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(results, BI, Dashboard, deliverable)</a:t>
          </a:r>
        </a:p>
      </dgm:t>
    </dgm:pt>
    <dgm:pt modelId="{9B31EF6B-0218-4059-BA9C-961EBF33B3B3}" type="parTrans" cxnId="{FDD656A5-8DC1-41AB-A4EA-248ACBE3A9F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F7DFDE-EF44-4D3E-960D-DF0D84944152}" type="sibTrans" cxnId="{FDD656A5-8DC1-41AB-A4EA-248ACBE3A9F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EDAEF2-FC70-4B33-9596-B71943634A85}" type="pres">
      <dgm:prSet presAssocID="{D77910C8-4AF7-4098-87CF-ADACC7D11FC1}" presName="Name0" presStyleCnt="0">
        <dgm:presLayoutVars>
          <dgm:dir/>
          <dgm:animLvl val="lvl"/>
          <dgm:resizeHandles val="exact"/>
        </dgm:presLayoutVars>
      </dgm:prSet>
      <dgm:spPr/>
    </dgm:pt>
    <dgm:pt modelId="{ABB51AD6-7C9C-4DFC-B52A-12F749B831A4}" type="pres">
      <dgm:prSet presAssocID="{6D35D0EA-15C0-451E-BE10-16701397A956}" presName="Name8" presStyleCnt="0"/>
      <dgm:spPr/>
    </dgm:pt>
    <dgm:pt modelId="{5F922517-AB70-47D8-AFD0-F567B935FD59}" type="pres">
      <dgm:prSet presAssocID="{6D35D0EA-15C0-451E-BE10-16701397A956}" presName="level" presStyleLbl="node1" presStyleIdx="0" presStyleCnt="7" custLinFactNeighborX="0" custLinFactNeighborY="-2280">
        <dgm:presLayoutVars>
          <dgm:chMax val="1"/>
          <dgm:bulletEnabled val="1"/>
        </dgm:presLayoutVars>
      </dgm:prSet>
      <dgm:spPr/>
    </dgm:pt>
    <dgm:pt modelId="{B89804FC-7566-49C9-B752-C8A2F24D1B36}" type="pres">
      <dgm:prSet presAssocID="{6D35D0EA-15C0-451E-BE10-16701397A95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CAD88E4-55FE-414E-8D66-BD5CC53EBE90}" type="pres">
      <dgm:prSet presAssocID="{8B237008-AC03-4369-8D4B-9C00E43EC680}" presName="Name8" presStyleCnt="0"/>
      <dgm:spPr/>
    </dgm:pt>
    <dgm:pt modelId="{A9F0F881-04F2-4DC8-BCDC-4E2462C38064}" type="pres">
      <dgm:prSet presAssocID="{8B237008-AC03-4369-8D4B-9C00E43EC680}" presName="level" presStyleLbl="node1" presStyleIdx="1" presStyleCnt="7">
        <dgm:presLayoutVars>
          <dgm:chMax val="1"/>
          <dgm:bulletEnabled val="1"/>
        </dgm:presLayoutVars>
      </dgm:prSet>
      <dgm:spPr/>
    </dgm:pt>
    <dgm:pt modelId="{FEDC944D-72F6-4357-828E-4FB6D0F2E88A}" type="pres">
      <dgm:prSet presAssocID="{8B237008-AC03-4369-8D4B-9C00E43EC68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CFB3B68-58D2-4FBB-A976-4140A459A646}" type="pres">
      <dgm:prSet presAssocID="{E5355C51-3EAE-4E45-AADD-A56697E8C11A}" presName="Name8" presStyleCnt="0"/>
      <dgm:spPr/>
    </dgm:pt>
    <dgm:pt modelId="{B6258CE9-B758-4C48-86A8-676F6839F9E5}" type="pres">
      <dgm:prSet presAssocID="{E5355C51-3EAE-4E45-AADD-A56697E8C11A}" presName="level" presStyleLbl="node1" presStyleIdx="2" presStyleCnt="7">
        <dgm:presLayoutVars>
          <dgm:chMax val="1"/>
          <dgm:bulletEnabled val="1"/>
        </dgm:presLayoutVars>
      </dgm:prSet>
      <dgm:spPr/>
    </dgm:pt>
    <dgm:pt modelId="{8F23F39E-8CF3-4DFB-9A67-0401AF28BC16}" type="pres">
      <dgm:prSet presAssocID="{E5355C51-3EAE-4E45-AADD-A56697E8C11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0D6774D-875F-48DD-A7E3-3BDED74FA053}" type="pres">
      <dgm:prSet presAssocID="{DA51814E-4DF2-4CA7-82CF-D253900009DC}" presName="Name8" presStyleCnt="0"/>
      <dgm:spPr/>
    </dgm:pt>
    <dgm:pt modelId="{EF3B542A-5013-4AEF-8B04-14A06E0D61F4}" type="pres">
      <dgm:prSet presAssocID="{DA51814E-4DF2-4CA7-82CF-D253900009DC}" presName="level" presStyleLbl="node1" presStyleIdx="3" presStyleCnt="7">
        <dgm:presLayoutVars>
          <dgm:chMax val="1"/>
          <dgm:bulletEnabled val="1"/>
        </dgm:presLayoutVars>
      </dgm:prSet>
      <dgm:spPr/>
    </dgm:pt>
    <dgm:pt modelId="{25440234-9E7F-4BF4-919A-C7A6070A87E4}" type="pres">
      <dgm:prSet presAssocID="{DA51814E-4DF2-4CA7-82CF-D253900009D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B63423B-46D3-428D-89B7-B1E2F8463ACE}" type="pres">
      <dgm:prSet presAssocID="{E8DB4944-D82F-4A4D-A3AB-94BA326A002A}" presName="Name8" presStyleCnt="0"/>
      <dgm:spPr/>
    </dgm:pt>
    <dgm:pt modelId="{0BED7005-410A-47C4-96DD-5DA2D0CDDC01}" type="pres">
      <dgm:prSet presAssocID="{E8DB4944-D82F-4A4D-A3AB-94BA326A002A}" presName="level" presStyleLbl="node1" presStyleIdx="4" presStyleCnt="7">
        <dgm:presLayoutVars>
          <dgm:chMax val="1"/>
          <dgm:bulletEnabled val="1"/>
        </dgm:presLayoutVars>
      </dgm:prSet>
      <dgm:spPr/>
    </dgm:pt>
    <dgm:pt modelId="{B379CD1D-F8BC-4D60-A581-DF41E1BDDAA9}" type="pres">
      <dgm:prSet presAssocID="{E8DB4944-D82F-4A4D-A3AB-94BA326A002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598F426-6780-4CD9-80D4-5CD3A7D5F317}" type="pres">
      <dgm:prSet presAssocID="{EB65129C-DA59-40A0-9655-D4ECBFFFB3C2}" presName="Name8" presStyleCnt="0"/>
      <dgm:spPr/>
    </dgm:pt>
    <dgm:pt modelId="{22C3833E-811F-4974-BD1A-8ECADF04287B}" type="pres">
      <dgm:prSet presAssocID="{EB65129C-DA59-40A0-9655-D4ECBFFFB3C2}" presName="level" presStyleLbl="node1" presStyleIdx="5" presStyleCnt="7">
        <dgm:presLayoutVars>
          <dgm:chMax val="1"/>
          <dgm:bulletEnabled val="1"/>
        </dgm:presLayoutVars>
      </dgm:prSet>
      <dgm:spPr/>
    </dgm:pt>
    <dgm:pt modelId="{5377A564-C095-4D83-9FBE-555E956DEFD0}" type="pres">
      <dgm:prSet presAssocID="{EB65129C-DA59-40A0-9655-D4ECBFFFB3C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DCC3F54-D318-4089-8CF8-1A386BC00AEA}" type="pres">
      <dgm:prSet presAssocID="{954C5BF7-D4C0-4798-949E-7ABABD0EA7D4}" presName="Name8" presStyleCnt="0"/>
      <dgm:spPr/>
    </dgm:pt>
    <dgm:pt modelId="{4138931C-198C-4A93-BB28-EE254D561D91}" type="pres">
      <dgm:prSet presAssocID="{954C5BF7-D4C0-4798-949E-7ABABD0EA7D4}" presName="level" presStyleLbl="node1" presStyleIdx="6" presStyleCnt="7">
        <dgm:presLayoutVars>
          <dgm:chMax val="1"/>
          <dgm:bulletEnabled val="1"/>
        </dgm:presLayoutVars>
      </dgm:prSet>
      <dgm:spPr/>
    </dgm:pt>
    <dgm:pt modelId="{57BB31C9-76E3-4717-A38B-1DF6CACC60AC}" type="pres">
      <dgm:prSet presAssocID="{954C5BF7-D4C0-4798-949E-7ABABD0EA7D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9E44304-F86E-4A7B-AF40-88E5545AEB2C}" srcId="{D77910C8-4AF7-4098-87CF-ADACC7D11FC1}" destId="{DA51814E-4DF2-4CA7-82CF-D253900009DC}" srcOrd="3" destOrd="0" parTransId="{21BF7098-E5B5-4E6D-A35D-F2B126815D1C}" sibTransId="{C268CC9B-0F6B-4CC6-B38B-BF8966904D2C}"/>
    <dgm:cxn modelId="{463D4E0A-F8C8-4E20-A186-6A29FB462884}" srcId="{D77910C8-4AF7-4098-87CF-ADACC7D11FC1}" destId="{6D35D0EA-15C0-451E-BE10-16701397A956}" srcOrd="0" destOrd="0" parTransId="{B31F66A1-AB81-4941-BEC8-97C19405E057}" sibTransId="{4ACCC2BD-01E7-444E-ACB6-0CE79115E516}"/>
    <dgm:cxn modelId="{9695C928-2895-48E8-AC84-53B5E1754A7A}" type="presOf" srcId="{EB65129C-DA59-40A0-9655-D4ECBFFFB3C2}" destId="{5377A564-C095-4D83-9FBE-555E956DEFD0}" srcOrd="1" destOrd="0" presId="urn:microsoft.com/office/officeart/2005/8/layout/pyramid1"/>
    <dgm:cxn modelId="{9604AB2F-EB3C-414A-AB8E-D84B8880D222}" srcId="{D77910C8-4AF7-4098-87CF-ADACC7D11FC1}" destId="{E5355C51-3EAE-4E45-AADD-A56697E8C11A}" srcOrd="2" destOrd="0" parTransId="{A9358E48-B0C5-4E49-BA0C-486A8B3B6F4F}" sibTransId="{004F9069-EFFD-4B0F-84AC-AC9A486EDED4}"/>
    <dgm:cxn modelId="{6A5E8630-3548-487F-AE25-F4724ED60BE5}" type="presOf" srcId="{954C5BF7-D4C0-4798-949E-7ABABD0EA7D4}" destId="{57BB31C9-76E3-4717-A38B-1DF6CACC60AC}" srcOrd="1" destOrd="0" presId="urn:microsoft.com/office/officeart/2005/8/layout/pyramid1"/>
    <dgm:cxn modelId="{15BFB662-574C-4A5D-BA6E-E81427E0FDD4}" type="presOf" srcId="{E8DB4944-D82F-4A4D-A3AB-94BA326A002A}" destId="{B379CD1D-F8BC-4D60-A581-DF41E1BDDAA9}" srcOrd="1" destOrd="0" presId="urn:microsoft.com/office/officeart/2005/8/layout/pyramid1"/>
    <dgm:cxn modelId="{0238DF65-32B7-4227-B831-F3495EF2021D}" type="presOf" srcId="{D77910C8-4AF7-4098-87CF-ADACC7D11FC1}" destId="{5CEDAEF2-FC70-4B33-9596-B71943634A85}" srcOrd="0" destOrd="0" presId="urn:microsoft.com/office/officeart/2005/8/layout/pyramid1"/>
    <dgm:cxn modelId="{9A353550-3930-4EB2-AF89-E822DCCA6027}" type="presOf" srcId="{EB65129C-DA59-40A0-9655-D4ECBFFFB3C2}" destId="{22C3833E-811F-4974-BD1A-8ECADF04287B}" srcOrd="0" destOrd="0" presId="urn:microsoft.com/office/officeart/2005/8/layout/pyramid1"/>
    <dgm:cxn modelId="{13791255-9F57-40B4-84FF-8AF69685BE43}" type="presOf" srcId="{DA51814E-4DF2-4CA7-82CF-D253900009DC}" destId="{25440234-9E7F-4BF4-919A-C7A6070A87E4}" srcOrd="1" destOrd="0" presId="urn:microsoft.com/office/officeart/2005/8/layout/pyramid1"/>
    <dgm:cxn modelId="{E8666E8E-281E-4068-8D4F-08D7383A64FC}" srcId="{D77910C8-4AF7-4098-87CF-ADACC7D11FC1}" destId="{EB65129C-DA59-40A0-9655-D4ECBFFFB3C2}" srcOrd="5" destOrd="0" parTransId="{818D9273-10F2-4AB6-8BA4-F54BEA33B12C}" sibTransId="{128F5C94-87C4-4C6A-A38A-8F941264500E}"/>
    <dgm:cxn modelId="{D925EC90-FDA4-4DBF-A156-C9BF51662C10}" type="presOf" srcId="{6D35D0EA-15C0-451E-BE10-16701397A956}" destId="{5F922517-AB70-47D8-AFD0-F567B935FD59}" srcOrd="0" destOrd="0" presId="urn:microsoft.com/office/officeart/2005/8/layout/pyramid1"/>
    <dgm:cxn modelId="{306047A0-7D44-4635-A5ED-CC1A0DC9AEED}" type="presOf" srcId="{8B237008-AC03-4369-8D4B-9C00E43EC680}" destId="{A9F0F881-04F2-4DC8-BCDC-4E2462C38064}" srcOrd="0" destOrd="0" presId="urn:microsoft.com/office/officeart/2005/8/layout/pyramid1"/>
    <dgm:cxn modelId="{FDD656A5-8DC1-41AB-A4EA-248ACBE3A9F4}" srcId="{D77910C8-4AF7-4098-87CF-ADACC7D11FC1}" destId="{954C5BF7-D4C0-4798-949E-7ABABD0EA7D4}" srcOrd="6" destOrd="0" parTransId="{9B31EF6B-0218-4059-BA9C-961EBF33B3B3}" sibTransId="{50F7DFDE-EF44-4D3E-960D-DF0D84944152}"/>
    <dgm:cxn modelId="{FDBAD2AE-6D7C-46C0-99A3-EF9D14E029C9}" srcId="{D77910C8-4AF7-4098-87CF-ADACC7D11FC1}" destId="{E8DB4944-D82F-4A4D-A3AB-94BA326A002A}" srcOrd="4" destOrd="0" parTransId="{0EDE795A-1A24-452E-B622-06490E6FFE3F}" sibTransId="{5878DA6E-FBD0-4C8F-86EF-55669C591AD4}"/>
    <dgm:cxn modelId="{C3EBF4AF-A4ED-44C4-B7F1-BAB710EC5762}" type="presOf" srcId="{E5355C51-3EAE-4E45-AADD-A56697E8C11A}" destId="{B6258CE9-B758-4C48-86A8-676F6839F9E5}" srcOrd="0" destOrd="0" presId="urn:microsoft.com/office/officeart/2005/8/layout/pyramid1"/>
    <dgm:cxn modelId="{567E1DB6-D879-4ADD-8960-099B3DE008C5}" type="presOf" srcId="{E5355C51-3EAE-4E45-AADD-A56697E8C11A}" destId="{8F23F39E-8CF3-4DFB-9A67-0401AF28BC16}" srcOrd="1" destOrd="0" presId="urn:microsoft.com/office/officeart/2005/8/layout/pyramid1"/>
    <dgm:cxn modelId="{593D30BC-29D4-4328-B38D-CC7C59033D25}" type="presOf" srcId="{954C5BF7-D4C0-4798-949E-7ABABD0EA7D4}" destId="{4138931C-198C-4A93-BB28-EE254D561D91}" srcOrd="0" destOrd="0" presId="urn:microsoft.com/office/officeart/2005/8/layout/pyramid1"/>
    <dgm:cxn modelId="{33D9ACC7-118C-43FC-BAE0-DE16E74BE2DF}" type="presOf" srcId="{6D35D0EA-15C0-451E-BE10-16701397A956}" destId="{B89804FC-7566-49C9-B752-C8A2F24D1B36}" srcOrd="1" destOrd="0" presId="urn:microsoft.com/office/officeart/2005/8/layout/pyramid1"/>
    <dgm:cxn modelId="{4B090EEE-7CA2-4795-84A7-88F83799A532}" type="presOf" srcId="{8B237008-AC03-4369-8D4B-9C00E43EC680}" destId="{FEDC944D-72F6-4357-828E-4FB6D0F2E88A}" srcOrd="1" destOrd="0" presId="urn:microsoft.com/office/officeart/2005/8/layout/pyramid1"/>
    <dgm:cxn modelId="{D9A9E7F2-5BFB-4397-93C9-5E7EAD2C2220}" type="presOf" srcId="{DA51814E-4DF2-4CA7-82CF-D253900009DC}" destId="{EF3B542A-5013-4AEF-8B04-14A06E0D61F4}" srcOrd="0" destOrd="0" presId="urn:microsoft.com/office/officeart/2005/8/layout/pyramid1"/>
    <dgm:cxn modelId="{9C6253FF-2C7A-4F3F-83D2-EE2A8F58121D}" type="presOf" srcId="{E8DB4944-D82F-4A4D-A3AB-94BA326A002A}" destId="{0BED7005-410A-47C4-96DD-5DA2D0CDDC01}" srcOrd="0" destOrd="0" presId="urn:microsoft.com/office/officeart/2005/8/layout/pyramid1"/>
    <dgm:cxn modelId="{756E9CFF-F257-4ADC-8352-D8770FD35773}" srcId="{D77910C8-4AF7-4098-87CF-ADACC7D11FC1}" destId="{8B237008-AC03-4369-8D4B-9C00E43EC680}" srcOrd="1" destOrd="0" parTransId="{2E2285CF-F8F8-4B58-9133-67EDE14C1B03}" sibTransId="{2FD6239B-59D9-4850-A798-F68A02CC3FEF}"/>
    <dgm:cxn modelId="{647D9EEF-15D7-4BFC-B700-1D5C7D3916AE}" type="presParOf" srcId="{5CEDAEF2-FC70-4B33-9596-B71943634A85}" destId="{ABB51AD6-7C9C-4DFC-B52A-12F749B831A4}" srcOrd="0" destOrd="0" presId="urn:microsoft.com/office/officeart/2005/8/layout/pyramid1"/>
    <dgm:cxn modelId="{96190FFF-1F60-4F6E-A154-1FB2C1051655}" type="presParOf" srcId="{ABB51AD6-7C9C-4DFC-B52A-12F749B831A4}" destId="{5F922517-AB70-47D8-AFD0-F567B935FD59}" srcOrd="0" destOrd="0" presId="urn:microsoft.com/office/officeart/2005/8/layout/pyramid1"/>
    <dgm:cxn modelId="{BDB9FDFA-2C78-48C7-B4C6-C46437D896A3}" type="presParOf" srcId="{ABB51AD6-7C9C-4DFC-B52A-12F749B831A4}" destId="{B89804FC-7566-49C9-B752-C8A2F24D1B36}" srcOrd="1" destOrd="0" presId="urn:microsoft.com/office/officeart/2005/8/layout/pyramid1"/>
    <dgm:cxn modelId="{9B602581-C4CF-48CC-BD69-872EEE4F84E6}" type="presParOf" srcId="{5CEDAEF2-FC70-4B33-9596-B71943634A85}" destId="{8CAD88E4-55FE-414E-8D66-BD5CC53EBE90}" srcOrd="1" destOrd="0" presId="urn:microsoft.com/office/officeart/2005/8/layout/pyramid1"/>
    <dgm:cxn modelId="{70DDBB4A-A2AD-42C2-A004-5B151ABAE5AD}" type="presParOf" srcId="{8CAD88E4-55FE-414E-8D66-BD5CC53EBE90}" destId="{A9F0F881-04F2-4DC8-BCDC-4E2462C38064}" srcOrd="0" destOrd="0" presId="urn:microsoft.com/office/officeart/2005/8/layout/pyramid1"/>
    <dgm:cxn modelId="{B1624CD9-5E9F-4E79-B672-55BF10DA266F}" type="presParOf" srcId="{8CAD88E4-55FE-414E-8D66-BD5CC53EBE90}" destId="{FEDC944D-72F6-4357-828E-4FB6D0F2E88A}" srcOrd="1" destOrd="0" presId="urn:microsoft.com/office/officeart/2005/8/layout/pyramid1"/>
    <dgm:cxn modelId="{FB11249D-3D03-4D90-8433-1409401B3BDD}" type="presParOf" srcId="{5CEDAEF2-FC70-4B33-9596-B71943634A85}" destId="{6CFB3B68-58D2-4FBB-A976-4140A459A646}" srcOrd="2" destOrd="0" presId="urn:microsoft.com/office/officeart/2005/8/layout/pyramid1"/>
    <dgm:cxn modelId="{4F8D35EC-295F-4A0B-8BDB-1993DE88EB5C}" type="presParOf" srcId="{6CFB3B68-58D2-4FBB-A976-4140A459A646}" destId="{B6258CE9-B758-4C48-86A8-676F6839F9E5}" srcOrd="0" destOrd="0" presId="urn:microsoft.com/office/officeart/2005/8/layout/pyramid1"/>
    <dgm:cxn modelId="{B45B470D-E7A0-4DD6-8302-E90DF636B671}" type="presParOf" srcId="{6CFB3B68-58D2-4FBB-A976-4140A459A646}" destId="{8F23F39E-8CF3-4DFB-9A67-0401AF28BC16}" srcOrd="1" destOrd="0" presId="urn:microsoft.com/office/officeart/2005/8/layout/pyramid1"/>
    <dgm:cxn modelId="{C9D6F83E-0CBA-44C4-B59C-39E5293E7BAC}" type="presParOf" srcId="{5CEDAEF2-FC70-4B33-9596-B71943634A85}" destId="{C0D6774D-875F-48DD-A7E3-3BDED74FA053}" srcOrd="3" destOrd="0" presId="urn:microsoft.com/office/officeart/2005/8/layout/pyramid1"/>
    <dgm:cxn modelId="{31B71293-45D1-4450-BA79-0033D294C0C0}" type="presParOf" srcId="{C0D6774D-875F-48DD-A7E3-3BDED74FA053}" destId="{EF3B542A-5013-4AEF-8B04-14A06E0D61F4}" srcOrd="0" destOrd="0" presId="urn:microsoft.com/office/officeart/2005/8/layout/pyramid1"/>
    <dgm:cxn modelId="{6F61C8C5-059A-4AD1-BB86-3A16A00CF1E7}" type="presParOf" srcId="{C0D6774D-875F-48DD-A7E3-3BDED74FA053}" destId="{25440234-9E7F-4BF4-919A-C7A6070A87E4}" srcOrd="1" destOrd="0" presId="urn:microsoft.com/office/officeart/2005/8/layout/pyramid1"/>
    <dgm:cxn modelId="{6E76D3E8-F3A9-4479-A908-40891882660B}" type="presParOf" srcId="{5CEDAEF2-FC70-4B33-9596-B71943634A85}" destId="{6B63423B-46D3-428D-89B7-B1E2F8463ACE}" srcOrd="4" destOrd="0" presId="urn:microsoft.com/office/officeart/2005/8/layout/pyramid1"/>
    <dgm:cxn modelId="{077E0161-BDD5-4D1D-892A-FBC5CB23EFE8}" type="presParOf" srcId="{6B63423B-46D3-428D-89B7-B1E2F8463ACE}" destId="{0BED7005-410A-47C4-96DD-5DA2D0CDDC01}" srcOrd="0" destOrd="0" presId="urn:microsoft.com/office/officeart/2005/8/layout/pyramid1"/>
    <dgm:cxn modelId="{C711D1D5-A6B3-4592-A004-5D6D80051A60}" type="presParOf" srcId="{6B63423B-46D3-428D-89B7-B1E2F8463ACE}" destId="{B379CD1D-F8BC-4D60-A581-DF41E1BDDAA9}" srcOrd="1" destOrd="0" presId="urn:microsoft.com/office/officeart/2005/8/layout/pyramid1"/>
    <dgm:cxn modelId="{96AF833F-04AC-4697-ACD9-AE0A283B30B6}" type="presParOf" srcId="{5CEDAEF2-FC70-4B33-9596-B71943634A85}" destId="{F598F426-6780-4CD9-80D4-5CD3A7D5F317}" srcOrd="5" destOrd="0" presId="urn:microsoft.com/office/officeart/2005/8/layout/pyramid1"/>
    <dgm:cxn modelId="{65792CDA-1F86-4416-84ED-DD7F48E3CDDC}" type="presParOf" srcId="{F598F426-6780-4CD9-80D4-5CD3A7D5F317}" destId="{22C3833E-811F-4974-BD1A-8ECADF04287B}" srcOrd="0" destOrd="0" presId="urn:microsoft.com/office/officeart/2005/8/layout/pyramid1"/>
    <dgm:cxn modelId="{096F8BF8-2037-4408-8247-B22E29E7BF7C}" type="presParOf" srcId="{F598F426-6780-4CD9-80D4-5CD3A7D5F317}" destId="{5377A564-C095-4D83-9FBE-555E956DEFD0}" srcOrd="1" destOrd="0" presId="urn:microsoft.com/office/officeart/2005/8/layout/pyramid1"/>
    <dgm:cxn modelId="{66847F1C-2F7A-466A-B1F8-98896BC008F4}" type="presParOf" srcId="{5CEDAEF2-FC70-4B33-9596-B71943634A85}" destId="{3DCC3F54-D318-4089-8CF8-1A386BC00AEA}" srcOrd="6" destOrd="0" presId="urn:microsoft.com/office/officeart/2005/8/layout/pyramid1"/>
    <dgm:cxn modelId="{A2EE8640-6CB6-4BA6-86DE-7F60DCB85759}" type="presParOf" srcId="{3DCC3F54-D318-4089-8CF8-1A386BC00AEA}" destId="{4138931C-198C-4A93-BB28-EE254D561D91}" srcOrd="0" destOrd="0" presId="urn:microsoft.com/office/officeart/2005/8/layout/pyramid1"/>
    <dgm:cxn modelId="{FEDD9C62-E39E-412D-978C-F5A9EA899213}" type="presParOf" srcId="{3DCC3F54-D318-4089-8CF8-1A386BC00AEA}" destId="{57BB31C9-76E3-4717-A38B-1DF6CACC60A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7910C8-4AF7-4098-87CF-ADACC7D11FC1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</dgm:pt>
    <dgm:pt modelId="{6D35D0EA-15C0-451E-BE10-16701397A956}">
      <dgm:prSet phldrT="[Text]" custT="1"/>
      <dgm:spPr/>
      <dgm:t>
        <a:bodyPr/>
        <a:lstStyle/>
        <a:p>
          <a:pPr>
            <a:lnSpc>
              <a:spcPct val="100000"/>
            </a:lnSpc>
            <a:spcBef>
              <a:spcPts val="1600"/>
            </a:spcBef>
            <a:spcAft>
              <a:spcPts val="0"/>
            </a:spcAft>
          </a:pPr>
          <a:r>
            <a:rPr lang="en-US" sz="1200" dirty="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200" b="1" dirty="0">
              <a:solidFill>
                <a:schemeClr val="bg1">
                  <a:lumMod val="95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rPr>
            <a:t>Calendar</a:t>
          </a:r>
        </a:p>
      </dgm:t>
    </dgm:pt>
    <dgm:pt modelId="{B31F66A1-AB81-4941-BEC8-97C19405E057}" type="par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CCC2BD-01E7-444E-ACB6-0CE79115E516}" type="sib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237008-AC03-4369-8D4B-9C00E43EC680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gm:t>
    </dgm:pt>
    <dgm:pt modelId="{2E2285CF-F8F8-4B58-9133-67EDE14C1B03}" type="par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D6239B-59D9-4850-A798-F68A02CC3FEF}" type="sib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355C51-3EAE-4E45-AADD-A56697E8C11A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gm:t>
    </dgm:pt>
    <dgm:pt modelId="{A9358E48-B0C5-4E49-BA0C-486A8B3B6F4F}" type="par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4F9069-EFFD-4B0F-84AC-AC9A486EDED4}" type="sib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51814E-4DF2-4CA7-82CF-D253900009DC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gm:t>
    </dgm:pt>
    <dgm:pt modelId="{21BF7098-E5B5-4E6D-A35D-F2B126815D1C}" type="par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68CC9B-0F6B-4CC6-B38B-BF8966904D2C}" type="sib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DB4944-D82F-4A4D-A3AB-94BA326A002A}">
      <dgm:prSet phldrT="[Text]" custT="1"/>
      <dgm:spPr>
        <a:solidFill>
          <a:srgbClr val="FF9999"/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multi-period calculations performed directly in the cloud (e.g., database, snowflake)</a:t>
          </a:r>
        </a:p>
      </dgm:t>
    </dgm:pt>
    <dgm:pt modelId="{0EDE795A-1A24-452E-B622-06490E6FFE3F}" type="parTrans" cxnId="{FDBAD2AE-6D7C-46C0-99A3-EF9D14E029C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78DA6E-FBD0-4C8F-86EF-55669C591AD4}" type="sibTrans" cxnId="{FDBAD2AE-6D7C-46C0-99A3-EF9D14E029C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65129C-DA59-40A0-9655-D4ECBFFFB3C2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Engine / Solution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(AI/ML, Linear Algebra, Heuristics)</a:t>
          </a:r>
        </a:p>
      </dgm:t>
    </dgm:pt>
    <dgm:pt modelId="{818D9273-10F2-4AB6-8BA4-F54BEA33B12C}" type="parTrans" cxnId="{E8666E8E-281E-4068-8D4F-08D7383A64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8F5C94-87C4-4C6A-A38A-8F941264500E}" type="sibTrans" cxnId="{E8666E8E-281E-4068-8D4F-08D7383A64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4C5BF7-D4C0-4798-949E-7ABABD0EA7D4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Actionable Intelligence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(results, BI, Dashboard, deliverable)</a:t>
          </a:r>
        </a:p>
      </dgm:t>
    </dgm:pt>
    <dgm:pt modelId="{9B31EF6B-0218-4059-BA9C-961EBF33B3B3}" type="parTrans" cxnId="{FDD656A5-8DC1-41AB-A4EA-248ACBE3A9F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F7DFDE-EF44-4D3E-960D-DF0D84944152}" type="sibTrans" cxnId="{FDD656A5-8DC1-41AB-A4EA-248ACBE3A9F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EDAEF2-FC70-4B33-9596-B71943634A85}" type="pres">
      <dgm:prSet presAssocID="{D77910C8-4AF7-4098-87CF-ADACC7D11FC1}" presName="Name0" presStyleCnt="0">
        <dgm:presLayoutVars>
          <dgm:dir/>
          <dgm:animLvl val="lvl"/>
          <dgm:resizeHandles val="exact"/>
        </dgm:presLayoutVars>
      </dgm:prSet>
      <dgm:spPr/>
    </dgm:pt>
    <dgm:pt modelId="{ABB51AD6-7C9C-4DFC-B52A-12F749B831A4}" type="pres">
      <dgm:prSet presAssocID="{6D35D0EA-15C0-451E-BE10-16701397A956}" presName="Name8" presStyleCnt="0"/>
      <dgm:spPr/>
    </dgm:pt>
    <dgm:pt modelId="{5F922517-AB70-47D8-AFD0-F567B935FD59}" type="pres">
      <dgm:prSet presAssocID="{6D35D0EA-15C0-451E-BE10-16701397A956}" presName="level" presStyleLbl="node1" presStyleIdx="0" presStyleCnt="7" custLinFactNeighborX="0" custLinFactNeighborY="-2280">
        <dgm:presLayoutVars>
          <dgm:chMax val="1"/>
          <dgm:bulletEnabled val="1"/>
        </dgm:presLayoutVars>
      </dgm:prSet>
      <dgm:spPr/>
    </dgm:pt>
    <dgm:pt modelId="{B89804FC-7566-49C9-B752-C8A2F24D1B36}" type="pres">
      <dgm:prSet presAssocID="{6D35D0EA-15C0-451E-BE10-16701397A95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CAD88E4-55FE-414E-8D66-BD5CC53EBE90}" type="pres">
      <dgm:prSet presAssocID="{8B237008-AC03-4369-8D4B-9C00E43EC680}" presName="Name8" presStyleCnt="0"/>
      <dgm:spPr/>
    </dgm:pt>
    <dgm:pt modelId="{A9F0F881-04F2-4DC8-BCDC-4E2462C38064}" type="pres">
      <dgm:prSet presAssocID="{8B237008-AC03-4369-8D4B-9C00E43EC680}" presName="level" presStyleLbl="node1" presStyleIdx="1" presStyleCnt="7">
        <dgm:presLayoutVars>
          <dgm:chMax val="1"/>
          <dgm:bulletEnabled val="1"/>
        </dgm:presLayoutVars>
      </dgm:prSet>
      <dgm:spPr/>
    </dgm:pt>
    <dgm:pt modelId="{FEDC944D-72F6-4357-828E-4FB6D0F2E88A}" type="pres">
      <dgm:prSet presAssocID="{8B237008-AC03-4369-8D4B-9C00E43EC68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CFB3B68-58D2-4FBB-A976-4140A459A646}" type="pres">
      <dgm:prSet presAssocID="{E5355C51-3EAE-4E45-AADD-A56697E8C11A}" presName="Name8" presStyleCnt="0"/>
      <dgm:spPr/>
    </dgm:pt>
    <dgm:pt modelId="{B6258CE9-B758-4C48-86A8-676F6839F9E5}" type="pres">
      <dgm:prSet presAssocID="{E5355C51-3EAE-4E45-AADD-A56697E8C11A}" presName="level" presStyleLbl="node1" presStyleIdx="2" presStyleCnt="7">
        <dgm:presLayoutVars>
          <dgm:chMax val="1"/>
          <dgm:bulletEnabled val="1"/>
        </dgm:presLayoutVars>
      </dgm:prSet>
      <dgm:spPr/>
    </dgm:pt>
    <dgm:pt modelId="{8F23F39E-8CF3-4DFB-9A67-0401AF28BC16}" type="pres">
      <dgm:prSet presAssocID="{E5355C51-3EAE-4E45-AADD-A56697E8C11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0D6774D-875F-48DD-A7E3-3BDED74FA053}" type="pres">
      <dgm:prSet presAssocID="{DA51814E-4DF2-4CA7-82CF-D253900009DC}" presName="Name8" presStyleCnt="0"/>
      <dgm:spPr/>
    </dgm:pt>
    <dgm:pt modelId="{EF3B542A-5013-4AEF-8B04-14A06E0D61F4}" type="pres">
      <dgm:prSet presAssocID="{DA51814E-4DF2-4CA7-82CF-D253900009DC}" presName="level" presStyleLbl="node1" presStyleIdx="3" presStyleCnt="7">
        <dgm:presLayoutVars>
          <dgm:chMax val="1"/>
          <dgm:bulletEnabled val="1"/>
        </dgm:presLayoutVars>
      </dgm:prSet>
      <dgm:spPr/>
    </dgm:pt>
    <dgm:pt modelId="{25440234-9E7F-4BF4-919A-C7A6070A87E4}" type="pres">
      <dgm:prSet presAssocID="{DA51814E-4DF2-4CA7-82CF-D253900009D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B63423B-46D3-428D-89B7-B1E2F8463ACE}" type="pres">
      <dgm:prSet presAssocID="{E8DB4944-D82F-4A4D-A3AB-94BA326A002A}" presName="Name8" presStyleCnt="0"/>
      <dgm:spPr/>
    </dgm:pt>
    <dgm:pt modelId="{0BED7005-410A-47C4-96DD-5DA2D0CDDC01}" type="pres">
      <dgm:prSet presAssocID="{E8DB4944-D82F-4A4D-A3AB-94BA326A002A}" presName="level" presStyleLbl="node1" presStyleIdx="4" presStyleCnt="7">
        <dgm:presLayoutVars>
          <dgm:chMax val="1"/>
          <dgm:bulletEnabled val="1"/>
        </dgm:presLayoutVars>
      </dgm:prSet>
      <dgm:spPr/>
    </dgm:pt>
    <dgm:pt modelId="{B379CD1D-F8BC-4D60-A581-DF41E1BDDAA9}" type="pres">
      <dgm:prSet presAssocID="{E8DB4944-D82F-4A4D-A3AB-94BA326A002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598F426-6780-4CD9-80D4-5CD3A7D5F317}" type="pres">
      <dgm:prSet presAssocID="{EB65129C-DA59-40A0-9655-D4ECBFFFB3C2}" presName="Name8" presStyleCnt="0"/>
      <dgm:spPr/>
    </dgm:pt>
    <dgm:pt modelId="{22C3833E-811F-4974-BD1A-8ECADF04287B}" type="pres">
      <dgm:prSet presAssocID="{EB65129C-DA59-40A0-9655-D4ECBFFFB3C2}" presName="level" presStyleLbl="node1" presStyleIdx="5" presStyleCnt="7">
        <dgm:presLayoutVars>
          <dgm:chMax val="1"/>
          <dgm:bulletEnabled val="1"/>
        </dgm:presLayoutVars>
      </dgm:prSet>
      <dgm:spPr/>
    </dgm:pt>
    <dgm:pt modelId="{5377A564-C095-4D83-9FBE-555E956DEFD0}" type="pres">
      <dgm:prSet presAssocID="{EB65129C-DA59-40A0-9655-D4ECBFFFB3C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DCC3F54-D318-4089-8CF8-1A386BC00AEA}" type="pres">
      <dgm:prSet presAssocID="{954C5BF7-D4C0-4798-949E-7ABABD0EA7D4}" presName="Name8" presStyleCnt="0"/>
      <dgm:spPr/>
    </dgm:pt>
    <dgm:pt modelId="{4138931C-198C-4A93-BB28-EE254D561D91}" type="pres">
      <dgm:prSet presAssocID="{954C5BF7-D4C0-4798-949E-7ABABD0EA7D4}" presName="level" presStyleLbl="node1" presStyleIdx="6" presStyleCnt="7">
        <dgm:presLayoutVars>
          <dgm:chMax val="1"/>
          <dgm:bulletEnabled val="1"/>
        </dgm:presLayoutVars>
      </dgm:prSet>
      <dgm:spPr/>
    </dgm:pt>
    <dgm:pt modelId="{57BB31C9-76E3-4717-A38B-1DF6CACC60AC}" type="pres">
      <dgm:prSet presAssocID="{954C5BF7-D4C0-4798-949E-7ABABD0EA7D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9E44304-F86E-4A7B-AF40-88E5545AEB2C}" srcId="{D77910C8-4AF7-4098-87CF-ADACC7D11FC1}" destId="{DA51814E-4DF2-4CA7-82CF-D253900009DC}" srcOrd="3" destOrd="0" parTransId="{21BF7098-E5B5-4E6D-A35D-F2B126815D1C}" sibTransId="{C268CC9B-0F6B-4CC6-B38B-BF8966904D2C}"/>
    <dgm:cxn modelId="{463D4E0A-F8C8-4E20-A186-6A29FB462884}" srcId="{D77910C8-4AF7-4098-87CF-ADACC7D11FC1}" destId="{6D35D0EA-15C0-451E-BE10-16701397A956}" srcOrd="0" destOrd="0" parTransId="{B31F66A1-AB81-4941-BEC8-97C19405E057}" sibTransId="{4ACCC2BD-01E7-444E-ACB6-0CE79115E516}"/>
    <dgm:cxn modelId="{9695C928-2895-48E8-AC84-53B5E1754A7A}" type="presOf" srcId="{EB65129C-DA59-40A0-9655-D4ECBFFFB3C2}" destId="{5377A564-C095-4D83-9FBE-555E956DEFD0}" srcOrd="1" destOrd="0" presId="urn:microsoft.com/office/officeart/2005/8/layout/pyramid1"/>
    <dgm:cxn modelId="{9604AB2F-EB3C-414A-AB8E-D84B8880D222}" srcId="{D77910C8-4AF7-4098-87CF-ADACC7D11FC1}" destId="{E5355C51-3EAE-4E45-AADD-A56697E8C11A}" srcOrd="2" destOrd="0" parTransId="{A9358E48-B0C5-4E49-BA0C-486A8B3B6F4F}" sibTransId="{004F9069-EFFD-4B0F-84AC-AC9A486EDED4}"/>
    <dgm:cxn modelId="{6A5E8630-3548-487F-AE25-F4724ED60BE5}" type="presOf" srcId="{954C5BF7-D4C0-4798-949E-7ABABD0EA7D4}" destId="{57BB31C9-76E3-4717-A38B-1DF6CACC60AC}" srcOrd="1" destOrd="0" presId="urn:microsoft.com/office/officeart/2005/8/layout/pyramid1"/>
    <dgm:cxn modelId="{15BFB662-574C-4A5D-BA6E-E81427E0FDD4}" type="presOf" srcId="{E8DB4944-D82F-4A4D-A3AB-94BA326A002A}" destId="{B379CD1D-F8BC-4D60-A581-DF41E1BDDAA9}" srcOrd="1" destOrd="0" presId="urn:microsoft.com/office/officeart/2005/8/layout/pyramid1"/>
    <dgm:cxn modelId="{0238DF65-32B7-4227-B831-F3495EF2021D}" type="presOf" srcId="{D77910C8-4AF7-4098-87CF-ADACC7D11FC1}" destId="{5CEDAEF2-FC70-4B33-9596-B71943634A85}" srcOrd="0" destOrd="0" presId="urn:microsoft.com/office/officeart/2005/8/layout/pyramid1"/>
    <dgm:cxn modelId="{9A353550-3930-4EB2-AF89-E822DCCA6027}" type="presOf" srcId="{EB65129C-DA59-40A0-9655-D4ECBFFFB3C2}" destId="{22C3833E-811F-4974-BD1A-8ECADF04287B}" srcOrd="0" destOrd="0" presId="urn:microsoft.com/office/officeart/2005/8/layout/pyramid1"/>
    <dgm:cxn modelId="{13791255-9F57-40B4-84FF-8AF69685BE43}" type="presOf" srcId="{DA51814E-4DF2-4CA7-82CF-D253900009DC}" destId="{25440234-9E7F-4BF4-919A-C7A6070A87E4}" srcOrd="1" destOrd="0" presId="urn:microsoft.com/office/officeart/2005/8/layout/pyramid1"/>
    <dgm:cxn modelId="{E8666E8E-281E-4068-8D4F-08D7383A64FC}" srcId="{D77910C8-4AF7-4098-87CF-ADACC7D11FC1}" destId="{EB65129C-DA59-40A0-9655-D4ECBFFFB3C2}" srcOrd="5" destOrd="0" parTransId="{818D9273-10F2-4AB6-8BA4-F54BEA33B12C}" sibTransId="{128F5C94-87C4-4C6A-A38A-8F941264500E}"/>
    <dgm:cxn modelId="{D925EC90-FDA4-4DBF-A156-C9BF51662C10}" type="presOf" srcId="{6D35D0EA-15C0-451E-BE10-16701397A956}" destId="{5F922517-AB70-47D8-AFD0-F567B935FD59}" srcOrd="0" destOrd="0" presId="urn:microsoft.com/office/officeart/2005/8/layout/pyramid1"/>
    <dgm:cxn modelId="{306047A0-7D44-4635-A5ED-CC1A0DC9AEED}" type="presOf" srcId="{8B237008-AC03-4369-8D4B-9C00E43EC680}" destId="{A9F0F881-04F2-4DC8-BCDC-4E2462C38064}" srcOrd="0" destOrd="0" presId="urn:microsoft.com/office/officeart/2005/8/layout/pyramid1"/>
    <dgm:cxn modelId="{FDD656A5-8DC1-41AB-A4EA-248ACBE3A9F4}" srcId="{D77910C8-4AF7-4098-87CF-ADACC7D11FC1}" destId="{954C5BF7-D4C0-4798-949E-7ABABD0EA7D4}" srcOrd="6" destOrd="0" parTransId="{9B31EF6B-0218-4059-BA9C-961EBF33B3B3}" sibTransId="{50F7DFDE-EF44-4D3E-960D-DF0D84944152}"/>
    <dgm:cxn modelId="{FDBAD2AE-6D7C-46C0-99A3-EF9D14E029C9}" srcId="{D77910C8-4AF7-4098-87CF-ADACC7D11FC1}" destId="{E8DB4944-D82F-4A4D-A3AB-94BA326A002A}" srcOrd="4" destOrd="0" parTransId="{0EDE795A-1A24-452E-B622-06490E6FFE3F}" sibTransId="{5878DA6E-FBD0-4C8F-86EF-55669C591AD4}"/>
    <dgm:cxn modelId="{C3EBF4AF-A4ED-44C4-B7F1-BAB710EC5762}" type="presOf" srcId="{E5355C51-3EAE-4E45-AADD-A56697E8C11A}" destId="{B6258CE9-B758-4C48-86A8-676F6839F9E5}" srcOrd="0" destOrd="0" presId="urn:microsoft.com/office/officeart/2005/8/layout/pyramid1"/>
    <dgm:cxn modelId="{567E1DB6-D879-4ADD-8960-099B3DE008C5}" type="presOf" srcId="{E5355C51-3EAE-4E45-AADD-A56697E8C11A}" destId="{8F23F39E-8CF3-4DFB-9A67-0401AF28BC16}" srcOrd="1" destOrd="0" presId="urn:microsoft.com/office/officeart/2005/8/layout/pyramid1"/>
    <dgm:cxn modelId="{593D30BC-29D4-4328-B38D-CC7C59033D25}" type="presOf" srcId="{954C5BF7-D4C0-4798-949E-7ABABD0EA7D4}" destId="{4138931C-198C-4A93-BB28-EE254D561D91}" srcOrd="0" destOrd="0" presId="urn:microsoft.com/office/officeart/2005/8/layout/pyramid1"/>
    <dgm:cxn modelId="{33D9ACC7-118C-43FC-BAE0-DE16E74BE2DF}" type="presOf" srcId="{6D35D0EA-15C0-451E-BE10-16701397A956}" destId="{B89804FC-7566-49C9-B752-C8A2F24D1B36}" srcOrd="1" destOrd="0" presId="urn:microsoft.com/office/officeart/2005/8/layout/pyramid1"/>
    <dgm:cxn modelId="{4B090EEE-7CA2-4795-84A7-88F83799A532}" type="presOf" srcId="{8B237008-AC03-4369-8D4B-9C00E43EC680}" destId="{FEDC944D-72F6-4357-828E-4FB6D0F2E88A}" srcOrd="1" destOrd="0" presId="urn:microsoft.com/office/officeart/2005/8/layout/pyramid1"/>
    <dgm:cxn modelId="{D9A9E7F2-5BFB-4397-93C9-5E7EAD2C2220}" type="presOf" srcId="{DA51814E-4DF2-4CA7-82CF-D253900009DC}" destId="{EF3B542A-5013-4AEF-8B04-14A06E0D61F4}" srcOrd="0" destOrd="0" presId="urn:microsoft.com/office/officeart/2005/8/layout/pyramid1"/>
    <dgm:cxn modelId="{9C6253FF-2C7A-4F3F-83D2-EE2A8F58121D}" type="presOf" srcId="{E8DB4944-D82F-4A4D-A3AB-94BA326A002A}" destId="{0BED7005-410A-47C4-96DD-5DA2D0CDDC01}" srcOrd="0" destOrd="0" presId="urn:microsoft.com/office/officeart/2005/8/layout/pyramid1"/>
    <dgm:cxn modelId="{756E9CFF-F257-4ADC-8352-D8770FD35773}" srcId="{D77910C8-4AF7-4098-87CF-ADACC7D11FC1}" destId="{8B237008-AC03-4369-8D4B-9C00E43EC680}" srcOrd="1" destOrd="0" parTransId="{2E2285CF-F8F8-4B58-9133-67EDE14C1B03}" sibTransId="{2FD6239B-59D9-4850-A798-F68A02CC3FEF}"/>
    <dgm:cxn modelId="{647D9EEF-15D7-4BFC-B700-1D5C7D3916AE}" type="presParOf" srcId="{5CEDAEF2-FC70-4B33-9596-B71943634A85}" destId="{ABB51AD6-7C9C-4DFC-B52A-12F749B831A4}" srcOrd="0" destOrd="0" presId="urn:microsoft.com/office/officeart/2005/8/layout/pyramid1"/>
    <dgm:cxn modelId="{96190FFF-1F60-4F6E-A154-1FB2C1051655}" type="presParOf" srcId="{ABB51AD6-7C9C-4DFC-B52A-12F749B831A4}" destId="{5F922517-AB70-47D8-AFD0-F567B935FD59}" srcOrd="0" destOrd="0" presId="urn:microsoft.com/office/officeart/2005/8/layout/pyramid1"/>
    <dgm:cxn modelId="{BDB9FDFA-2C78-48C7-B4C6-C46437D896A3}" type="presParOf" srcId="{ABB51AD6-7C9C-4DFC-B52A-12F749B831A4}" destId="{B89804FC-7566-49C9-B752-C8A2F24D1B36}" srcOrd="1" destOrd="0" presId="urn:microsoft.com/office/officeart/2005/8/layout/pyramid1"/>
    <dgm:cxn modelId="{9B602581-C4CF-48CC-BD69-872EEE4F84E6}" type="presParOf" srcId="{5CEDAEF2-FC70-4B33-9596-B71943634A85}" destId="{8CAD88E4-55FE-414E-8D66-BD5CC53EBE90}" srcOrd="1" destOrd="0" presId="urn:microsoft.com/office/officeart/2005/8/layout/pyramid1"/>
    <dgm:cxn modelId="{70DDBB4A-A2AD-42C2-A004-5B151ABAE5AD}" type="presParOf" srcId="{8CAD88E4-55FE-414E-8D66-BD5CC53EBE90}" destId="{A9F0F881-04F2-4DC8-BCDC-4E2462C38064}" srcOrd="0" destOrd="0" presId="urn:microsoft.com/office/officeart/2005/8/layout/pyramid1"/>
    <dgm:cxn modelId="{B1624CD9-5E9F-4E79-B672-55BF10DA266F}" type="presParOf" srcId="{8CAD88E4-55FE-414E-8D66-BD5CC53EBE90}" destId="{FEDC944D-72F6-4357-828E-4FB6D0F2E88A}" srcOrd="1" destOrd="0" presId="urn:microsoft.com/office/officeart/2005/8/layout/pyramid1"/>
    <dgm:cxn modelId="{FB11249D-3D03-4D90-8433-1409401B3BDD}" type="presParOf" srcId="{5CEDAEF2-FC70-4B33-9596-B71943634A85}" destId="{6CFB3B68-58D2-4FBB-A976-4140A459A646}" srcOrd="2" destOrd="0" presId="urn:microsoft.com/office/officeart/2005/8/layout/pyramid1"/>
    <dgm:cxn modelId="{4F8D35EC-295F-4A0B-8BDB-1993DE88EB5C}" type="presParOf" srcId="{6CFB3B68-58D2-4FBB-A976-4140A459A646}" destId="{B6258CE9-B758-4C48-86A8-676F6839F9E5}" srcOrd="0" destOrd="0" presId="urn:microsoft.com/office/officeart/2005/8/layout/pyramid1"/>
    <dgm:cxn modelId="{B45B470D-E7A0-4DD6-8302-E90DF636B671}" type="presParOf" srcId="{6CFB3B68-58D2-4FBB-A976-4140A459A646}" destId="{8F23F39E-8CF3-4DFB-9A67-0401AF28BC16}" srcOrd="1" destOrd="0" presId="urn:microsoft.com/office/officeart/2005/8/layout/pyramid1"/>
    <dgm:cxn modelId="{C9D6F83E-0CBA-44C4-B59C-39E5293E7BAC}" type="presParOf" srcId="{5CEDAEF2-FC70-4B33-9596-B71943634A85}" destId="{C0D6774D-875F-48DD-A7E3-3BDED74FA053}" srcOrd="3" destOrd="0" presId="urn:microsoft.com/office/officeart/2005/8/layout/pyramid1"/>
    <dgm:cxn modelId="{31B71293-45D1-4450-BA79-0033D294C0C0}" type="presParOf" srcId="{C0D6774D-875F-48DD-A7E3-3BDED74FA053}" destId="{EF3B542A-5013-4AEF-8B04-14A06E0D61F4}" srcOrd="0" destOrd="0" presId="urn:microsoft.com/office/officeart/2005/8/layout/pyramid1"/>
    <dgm:cxn modelId="{6F61C8C5-059A-4AD1-BB86-3A16A00CF1E7}" type="presParOf" srcId="{C0D6774D-875F-48DD-A7E3-3BDED74FA053}" destId="{25440234-9E7F-4BF4-919A-C7A6070A87E4}" srcOrd="1" destOrd="0" presId="urn:microsoft.com/office/officeart/2005/8/layout/pyramid1"/>
    <dgm:cxn modelId="{6E76D3E8-F3A9-4479-A908-40891882660B}" type="presParOf" srcId="{5CEDAEF2-FC70-4B33-9596-B71943634A85}" destId="{6B63423B-46D3-428D-89B7-B1E2F8463ACE}" srcOrd="4" destOrd="0" presId="urn:microsoft.com/office/officeart/2005/8/layout/pyramid1"/>
    <dgm:cxn modelId="{077E0161-BDD5-4D1D-892A-FBC5CB23EFE8}" type="presParOf" srcId="{6B63423B-46D3-428D-89B7-B1E2F8463ACE}" destId="{0BED7005-410A-47C4-96DD-5DA2D0CDDC01}" srcOrd="0" destOrd="0" presId="urn:microsoft.com/office/officeart/2005/8/layout/pyramid1"/>
    <dgm:cxn modelId="{C711D1D5-A6B3-4592-A004-5D6D80051A60}" type="presParOf" srcId="{6B63423B-46D3-428D-89B7-B1E2F8463ACE}" destId="{B379CD1D-F8BC-4D60-A581-DF41E1BDDAA9}" srcOrd="1" destOrd="0" presId="urn:microsoft.com/office/officeart/2005/8/layout/pyramid1"/>
    <dgm:cxn modelId="{96AF833F-04AC-4697-ACD9-AE0A283B30B6}" type="presParOf" srcId="{5CEDAEF2-FC70-4B33-9596-B71943634A85}" destId="{F598F426-6780-4CD9-80D4-5CD3A7D5F317}" srcOrd="5" destOrd="0" presId="urn:microsoft.com/office/officeart/2005/8/layout/pyramid1"/>
    <dgm:cxn modelId="{65792CDA-1F86-4416-84ED-DD7F48E3CDDC}" type="presParOf" srcId="{F598F426-6780-4CD9-80D4-5CD3A7D5F317}" destId="{22C3833E-811F-4974-BD1A-8ECADF04287B}" srcOrd="0" destOrd="0" presId="urn:microsoft.com/office/officeart/2005/8/layout/pyramid1"/>
    <dgm:cxn modelId="{096F8BF8-2037-4408-8247-B22E29E7BF7C}" type="presParOf" srcId="{F598F426-6780-4CD9-80D4-5CD3A7D5F317}" destId="{5377A564-C095-4D83-9FBE-555E956DEFD0}" srcOrd="1" destOrd="0" presId="urn:microsoft.com/office/officeart/2005/8/layout/pyramid1"/>
    <dgm:cxn modelId="{66847F1C-2F7A-466A-B1F8-98896BC008F4}" type="presParOf" srcId="{5CEDAEF2-FC70-4B33-9596-B71943634A85}" destId="{3DCC3F54-D318-4089-8CF8-1A386BC00AEA}" srcOrd="6" destOrd="0" presId="urn:microsoft.com/office/officeart/2005/8/layout/pyramid1"/>
    <dgm:cxn modelId="{A2EE8640-6CB6-4BA6-86DE-7F60DCB85759}" type="presParOf" srcId="{3DCC3F54-D318-4089-8CF8-1A386BC00AEA}" destId="{4138931C-198C-4A93-BB28-EE254D561D91}" srcOrd="0" destOrd="0" presId="urn:microsoft.com/office/officeart/2005/8/layout/pyramid1"/>
    <dgm:cxn modelId="{FEDD9C62-E39E-412D-978C-F5A9EA899213}" type="presParOf" srcId="{3DCC3F54-D318-4089-8CF8-1A386BC00AEA}" destId="{57BB31C9-76E3-4717-A38B-1DF6CACC60A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22517-AB70-47D8-AFD0-F567B935FD59}">
      <dsp:nvSpPr>
        <dsp:cNvPr id="0" name=""/>
        <dsp:cNvSpPr/>
      </dsp:nvSpPr>
      <dsp:spPr>
        <a:xfrm>
          <a:off x="3047999" y="0"/>
          <a:ext cx="2032000" cy="1354666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400" b="1" kern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Calendar</a:t>
          </a:r>
        </a:p>
      </dsp:txBody>
      <dsp:txXfrm>
        <a:off x="3047999" y="0"/>
        <a:ext cx="2032000" cy="1354666"/>
      </dsp:txXfrm>
    </dsp:sp>
    <dsp:sp modelId="{A9F0F881-04F2-4DC8-BCDC-4E2462C38064}">
      <dsp:nvSpPr>
        <dsp:cNvPr id="0" name=""/>
        <dsp:cNvSpPr/>
      </dsp:nvSpPr>
      <dsp:spPr>
        <a:xfrm>
          <a:off x="2032000" y="1354666"/>
          <a:ext cx="4064000" cy="1354666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sp:txBody>
      <dsp:txXfrm>
        <a:off x="2743199" y="1354666"/>
        <a:ext cx="2641600" cy="1354666"/>
      </dsp:txXfrm>
    </dsp:sp>
    <dsp:sp modelId="{B6258CE9-B758-4C48-86A8-676F6839F9E5}">
      <dsp:nvSpPr>
        <dsp:cNvPr id="0" name=""/>
        <dsp:cNvSpPr/>
      </dsp:nvSpPr>
      <dsp:spPr>
        <a:xfrm>
          <a:off x="1015999" y="2709333"/>
          <a:ext cx="6096000" cy="1354666"/>
        </a:xfrm>
        <a:prstGeom prst="trapezoid">
          <a:avLst>
            <a:gd name="adj" fmla="val 75000"/>
          </a:avLst>
        </a:prstGeom>
        <a:solidFill>
          <a:srgbClr val="FF9999">
            <a:alpha val="6333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sp:txBody>
      <dsp:txXfrm>
        <a:off x="2082799" y="2709333"/>
        <a:ext cx="3962400" cy="1354666"/>
      </dsp:txXfrm>
    </dsp:sp>
    <dsp:sp modelId="{EF3B542A-5013-4AEF-8B04-14A06E0D61F4}">
      <dsp:nvSpPr>
        <dsp:cNvPr id="0" name=""/>
        <dsp:cNvSpPr/>
      </dsp:nvSpPr>
      <dsp:spPr>
        <a:xfrm>
          <a:off x="0" y="4064000"/>
          <a:ext cx="8128000" cy="1354666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sp:txBody>
      <dsp:txXfrm>
        <a:off x="1422399" y="4064000"/>
        <a:ext cx="5283200" cy="1354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22517-AB70-47D8-AFD0-F567B935FD59}">
      <dsp:nvSpPr>
        <dsp:cNvPr id="0" name=""/>
        <dsp:cNvSpPr/>
      </dsp:nvSpPr>
      <dsp:spPr>
        <a:xfrm>
          <a:off x="3483428" y="0"/>
          <a:ext cx="1161142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200" b="1" kern="1200">
              <a:latin typeface="Arial Narrow" panose="020B0606020202030204" pitchFamily="34" charset="0"/>
              <a:cs typeface="Arial" panose="020B0604020202020204" pitchFamily="34" charset="0"/>
            </a:rPr>
            <a:t>Calendar</a:t>
          </a:r>
          <a:endParaRPr lang="en-US" sz="1200" b="1" kern="1200" dirty="0">
            <a:latin typeface="Arial Narrow" panose="020B0606020202030204" pitchFamily="34" charset="0"/>
            <a:cs typeface="Arial" panose="020B0604020202020204" pitchFamily="34" charset="0"/>
          </a:endParaRPr>
        </a:p>
      </dsp:txBody>
      <dsp:txXfrm>
        <a:off x="3483428" y="0"/>
        <a:ext cx="1161142" cy="774095"/>
      </dsp:txXfrm>
    </dsp:sp>
    <dsp:sp modelId="{A9F0F881-04F2-4DC8-BCDC-4E2462C38064}">
      <dsp:nvSpPr>
        <dsp:cNvPr id="0" name=""/>
        <dsp:cNvSpPr/>
      </dsp:nvSpPr>
      <dsp:spPr>
        <a:xfrm>
          <a:off x="2902857" y="774095"/>
          <a:ext cx="2322285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sp:txBody>
      <dsp:txXfrm>
        <a:off x="3309257" y="774095"/>
        <a:ext cx="1509485" cy="774095"/>
      </dsp:txXfrm>
    </dsp:sp>
    <dsp:sp modelId="{B6258CE9-B758-4C48-86A8-676F6839F9E5}">
      <dsp:nvSpPr>
        <dsp:cNvPr id="0" name=""/>
        <dsp:cNvSpPr/>
      </dsp:nvSpPr>
      <dsp:spPr>
        <a:xfrm>
          <a:off x="2322285" y="1548190"/>
          <a:ext cx="3483428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sp:txBody>
      <dsp:txXfrm>
        <a:off x="2931885" y="1548190"/>
        <a:ext cx="2264228" cy="774095"/>
      </dsp:txXfrm>
    </dsp:sp>
    <dsp:sp modelId="{EF3B542A-5013-4AEF-8B04-14A06E0D61F4}">
      <dsp:nvSpPr>
        <dsp:cNvPr id="0" name=""/>
        <dsp:cNvSpPr/>
      </dsp:nvSpPr>
      <dsp:spPr>
        <a:xfrm>
          <a:off x="1741714" y="2322285"/>
          <a:ext cx="4644571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sp:txBody>
      <dsp:txXfrm>
        <a:off x="2554514" y="2322285"/>
        <a:ext cx="3018971" cy="774095"/>
      </dsp:txXfrm>
    </dsp:sp>
    <dsp:sp modelId="{0BED7005-410A-47C4-96DD-5DA2D0CDDC01}">
      <dsp:nvSpPr>
        <dsp:cNvPr id="0" name=""/>
        <dsp:cNvSpPr/>
      </dsp:nvSpPr>
      <dsp:spPr>
        <a:xfrm>
          <a:off x="1161142" y="3096381"/>
          <a:ext cx="5805714" cy="774095"/>
        </a:xfrm>
        <a:prstGeom prst="trapezoid">
          <a:avLst>
            <a:gd name="adj" fmla="val 75000"/>
          </a:avLst>
        </a:prstGeom>
        <a:solidFill>
          <a:srgbClr val="FF9999">
            <a:alpha val="6333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II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(additional calculations that span periods) </a:t>
          </a:r>
        </a:p>
      </dsp:txBody>
      <dsp:txXfrm>
        <a:off x="2177142" y="3096381"/>
        <a:ext cx="3773714" cy="774095"/>
      </dsp:txXfrm>
    </dsp:sp>
    <dsp:sp modelId="{22C3833E-811F-4974-BD1A-8ECADF04287B}">
      <dsp:nvSpPr>
        <dsp:cNvPr id="0" name=""/>
        <dsp:cNvSpPr/>
      </dsp:nvSpPr>
      <dsp:spPr>
        <a:xfrm>
          <a:off x="580571" y="3870476"/>
          <a:ext cx="6966857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Engine / Solution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(AI/ML, Linear Algebra, Heuristics)</a:t>
          </a:r>
        </a:p>
      </dsp:txBody>
      <dsp:txXfrm>
        <a:off x="1799771" y="3870476"/>
        <a:ext cx="4528457" cy="774095"/>
      </dsp:txXfrm>
    </dsp:sp>
    <dsp:sp modelId="{4138931C-198C-4A93-BB28-EE254D561D91}">
      <dsp:nvSpPr>
        <dsp:cNvPr id="0" name=""/>
        <dsp:cNvSpPr/>
      </dsp:nvSpPr>
      <dsp:spPr>
        <a:xfrm>
          <a:off x="0" y="4644571"/>
          <a:ext cx="8128000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Actionable Intelligence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(results, BI, Dashboard, deliverable)</a:t>
          </a:r>
        </a:p>
      </dsp:txBody>
      <dsp:txXfrm>
        <a:off x="1422399" y="4644571"/>
        <a:ext cx="5283200" cy="774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22517-AB70-47D8-AFD0-F567B935FD59}">
      <dsp:nvSpPr>
        <dsp:cNvPr id="0" name=""/>
        <dsp:cNvSpPr/>
      </dsp:nvSpPr>
      <dsp:spPr>
        <a:xfrm>
          <a:off x="3483428" y="0"/>
          <a:ext cx="1161142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200" b="1" kern="1200" dirty="0">
              <a:solidFill>
                <a:schemeClr val="bg1">
                  <a:lumMod val="95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rPr>
            <a:t>Calendar</a:t>
          </a:r>
        </a:p>
      </dsp:txBody>
      <dsp:txXfrm>
        <a:off x="3483428" y="0"/>
        <a:ext cx="1161142" cy="774095"/>
      </dsp:txXfrm>
    </dsp:sp>
    <dsp:sp modelId="{A9F0F881-04F2-4DC8-BCDC-4E2462C38064}">
      <dsp:nvSpPr>
        <dsp:cNvPr id="0" name=""/>
        <dsp:cNvSpPr/>
      </dsp:nvSpPr>
      <dsp:spPr>
        <a:xfrm>
          <a:off x="2902857" y="774095"/>
          <a:ext cx="2322285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sp:txBody>
      <dsp:txXfrm>
        <a:off x="3309257" y="774095"/>
        <a:ext cx="1509485" cy="774095"/>
      </dsp:txXfrm>
    </dsp:sp>
    <dsp:sp modelId="{B6258CE9-B758-4C48-86A8-676F6839F9E5}">
      <dsp:nvSpPr>
        <dsp:cNvPr id="0" name=""/>
        <dsp:cNvSpPr/>
      </dsp:nvSpPr>
      <dsp:spPr>
        <a:xfrm>
          <a:off x="2322285" y="1548190"/>
          <a:ext cx="3483428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sp:txBody>
      <dsp:txXfrm>
        <a:off x="2931885" y="1548190"/>
        <a:ext cx="2264228" cy="774095"/>
      </dsp:txXfrm>
    </dsp:sp>
    <dsp:sp modelId="{EF3B542A-5013-4AEF-8B04-14A06E0D61F4}">
      <dsp:nvSpPr>
        <dsp:cNvPr id="0" name=""/>
        <dsp:cNvSpPr/>
      </dsp:nvSpPr>
      <dsp:spPr>
        <a:xfrm>
          <a:off x="1741714" y="2322285"/>
          <a:ext cx="4644571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sp:txBody>
      <dsp:txXfrm>
        <a:off x="2554514" y="2322285"/>
        <a:ext cx="3018971" cy="774095"/>
      </dsp:txXfrm>
    </dsp:sp>
    <dsp:sp modelId="{0BED7005-410A-47C4-96DD-5DA2D0CDDC01}">
      <dsp:nvSpPr>
        <dsp:cNvPr id="0" name=""/>
        <dsp:cNvSpPr/>
      </dsp:nvSpPr>
      <dsp:spPr>
        <a:xfrm>
          <a:off x="1161142" y="3096381"/>
          <a:ext cx="5805714" cy="774095"/>
        </a:xfrm>
        <a:prstGeom prst="trapezoid">
          <a:avLst>
            <a:gd name="adj" fmla="val 75000"/>
          </a:avLst>
        </a:prstGeom>
        <a:solidFill>
          <a:srgbClr val="FF99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multi-period calculations performed directly in the cloud (e.g., database, snowflake)</a:t>
          </a:r>
        </a:p>
      </dsp:txBody>
      <dsp:txXfrm>
        <a:off x="2177142" y="3096381"/>
        <a:ext cx="3773714" cy="774095"/>
      </dsp:txXfrm>
    </dsp:sp>
    <dsp:sp modelId="{22C3833E-811F-4974-BD1A-8ECADF04287B}">
      <dsp:nvSpPr>
        <dsp:cNvPr id="0" name=""/>
        <dsp:cNvSpPr/>
      </dsp:nvSpPr>
      <dsp:spPr>
        <a:xfrm>
          <a:off x="580571" y="3870476"/>
          <a:ext cx="6966857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Engine / Solution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(AI/ML, Linear Algebra, Heuristics)</a:t>
          </a:r>
        </a:p>
      </dsp:txBody>
      <dsp:txXfrm>
        <a:off x="1799771" y="3870476"/>
        <a:ext cx="4528457" cy="774095"/>
      </dsp:txXfrm>
    </dsp:sp>
    <dsp:sp modelId="{4138931C-198C-4A93-BB28-EE254D561D91}">
      <dsp:nvSpPr>
        <dsp:cNvPr id="0" name=""/>
        <dsp:cNvSpPr/>
      </dsp:nvSpPr>
      <dsp:spPr>
        <a:xfrm>
          <a:off x="0" y="4644571"/>
          <a:ext cx="8128000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Actionable Intelligence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(results, BI, Dashboard, deliverable)</a:t>
          </a:r>
        </a:p>
      </dsp:txBody>
      <dsp:txXfrm>
        <a:off x="1422399" y="4644571"/>
        <a:ext cx="5283200" cy="774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8DDFD-272F-4631-937D-DFD218DF5E2A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F8C65-9081-428F-90CD-B35853023B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33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4929-DA68-49D3-AE1F-3C5ABC028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45989-26A1-4DFC-897E-9167484F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1338B-50A8-4E63-88E1-63B150B9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EE6AF-8C93-4DE9-996A-3BD4D344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265CF-8721-43B4-A79A-B4DA8B35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24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E4F9-63E0-480D-A0F2-197DF6B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85511-1CD3-42B6-9974-DE64FBC4C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0198-2A57-4E1F-8ACC-091F26979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18E48-F9E4-4266-B6CE-3A65DB23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25240-599C-4B08-96C8-8AEF74F8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67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7260-BC5D-4AEC-AF78-85708677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B248-AE8D-4F3E-B4FD-82EF9468C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86FE-6BF8-4DF6-83F1-E4EC9E73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25DD4-14EC-4789-8941-37CA61A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3C856-5781-4F69-BD80-94FBE205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7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7AB2-215A-4C1C-BC89-5D1AABA9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425C-EF08-453A-A263-186F8D738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F425E-119E-4D8C-AB72-4FCA24DC3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8F129-723F-4A07-AB17-FAEF8A0F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54240-5730-4EE9-AAE8-1344E4AC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DD34D-2280-45A5-86CD-782B54E3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98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9D27-F952-430A-906C-AA6397F91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177B-9AF1-42A5-9F76-8DF09401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A2359-A15B-4960-B13B-A0C573E84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4BCB0C-CE73-4A28-9C51-56470E7BE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D6A62-EEE2-4F92-A154-5AE483024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3E509-2829-45F7-A2F2-3C17C034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49D4-0161-441F-BB6D-0D7154ED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9A40E-4B73-439D-92BC-2A3848EFC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7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CA76-1F21-4C99-8A11-F6A2B42D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22D8D-CD83-4AD1-A557-1DA936796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BAAFD-27E0-4EF9-AB9A-7EEFE65E5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B6F1C-2860-44D2-98C4-96016F9F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219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DA38C-F915-464E-89E4-FD0947A7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50251-2638-4C95-959E-F56C2529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AC536-166F-4B89-8D27-106DB553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4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CCA0-C744-4A8B-AB7B-9E70BC06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9A547-989B-484B-8BA7-E2D5D97E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F0AA2-618E-4A80-A134-6021B6EB8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A9FE2-1A5E-464F-AFB3-666EE30D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76C58-1DA0-46D7-B3C2-044F3F6D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6DA62-1757-4E1E-9508-07A48F37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97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419F-6D2B-454B-9A87-6ABAB70B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6D535-0777-4E76-A834-DBEEF2C83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2788E-9B84-4C39-BA6C-CBBCE3283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28FC8-954E-4259-B51C-3C432F6D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6CA51-5100-405A-A581-6B37C815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E184A-844F-4733-AA4C-FF89C516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3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95E5-6575-4046-A789-7C9612E32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11C24-7694-486A-8808-B5AB6FDD2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21BEB-36BB-4DE1-84F8-55676A0C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24EAC-2F72-4DB5-B404-16B8E732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6A8B8-B73D-4FA6-B307-5FD475B9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7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379CB-6819-4C11-942A-8F65F578D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B442C-3D7B-49E6-B5ED-EC7D80B70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813F1-D047-457B-99C8-9105A077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722BE-4C60-4AD4-8AB1-D818CF4D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0469D-926B-4DBF-A4D1-5ADB8F46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51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C9A07-178D-4F79-AAB7-BA711D414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E7E46-BCD2-4AF7-A011-1A46E14EC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310BA-304E-499D-81DD-A814A0A2E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DDF20-B123-4C35-A0B5-C3BDD2BEAA66}" type="datetimeFigureOut">
              <a:rPr lang="en-US" smtClean="0"/>
              <a:t>5/18/2022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60E21-5D27-463C-AE90-C91A9B34B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B4944-4746-4786-8FF8-E0299B593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0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30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267477" y="2712098"/>
            <a:ext cx="116570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Python-based Data Generation</a:t>
            </a:r>
          </a:p>
          <a:p>
            <a:pPr algn="ctr"/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as of 2022-Q1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7A802-60AB-4B6C-A7C0-258D35B49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659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Solution Objectives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6013311"/>
            <a:chOff x="381000" y="685800"/>
            <a:chExt cx="11620500" cy="601331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Solution Objectives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technology stack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that is portable and easily repurposed for different projects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 sensible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code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directory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and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document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structure that can be maintained over years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Drive the application with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sensible configuration files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 that data can be quickly shaped to reflect many real or imagined businesses for presentations, marketing, pre-sales, or mock-ups in preparation for loading real client data.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data that reflects a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typical manufacturing or distribution environment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data that includes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(core data fields) and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labels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(targets and/or outcomes)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emulate a business by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continually adding more data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the same fashion that a real business adds data every new period (day, week, month) in a manner that continues initially established patterns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shape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content to drive the training of AI/ML models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Populate a database of any common type (flat-file, Oracle, SQL Server, MySQL, MariaDB) to reflect the kind of sources we are likely to encounter with clients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and maintain clear documents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aid both training and further development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61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Framework Elements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3397210"/>
            <a:chOff x="381000" y="685800"/>
            <a:chExt cx="11620500" cy="33972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Framework Elements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301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GitHub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(CVS – code versioning system)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(Cloud, AI/ML components, user management)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Databases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(flat-file, Oracle, MariaDB, eventually others)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Snowflake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(data analytics, data centralization for AI/ML engines)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Python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(primary coding language)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Python libraries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20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configparser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Faker, Pandas, </a:t>
              </a:r>
              <a:r>
                <a:rPr lang="en-US" sz="20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endParaRPr lang="en-US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43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Primary Challenges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3274100"/>
            <a:chOff x="381000" y="685800"/>
            <a:chExt cx="11620500" cy="32741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Primary Challenges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Emulating inventory production and consumption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Determining LABEL content (better/worse outcomes used by an AI/ML model to train)</a:t>
              </a:r>
            </a:p>
            <a:p>
              <a:pPr marL="914400" lvl="1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Determining what to measure</a:t>
              </a:r>
            </a:p>
            <a:p>
              <a:pPr marL="914400" lvl="1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Ensuring we are creating better/worse outcomes that reflect real businesses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Feeding continually updated periods of new data to an AI/ML for re-execution (training)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Assessing AI/ML engine operation and outcomes and learning to improve our data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Generating actionable intelligence from the AI/ML outcomes (reporting, BI, dashboards)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076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SCM Data-Generation 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612106"/>
            <a:chOff x="381000" y="685800"/>
            <a:chExt cx="11620500" cy="16121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Data &amp; Engine Objectives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objective is a single large table to feed to an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update that dataset repeatedly in a manner that aids training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Apply the resultant trained model to real client data and generate measurable improvements to one or more elements of the data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772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SCM Data-Generation 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612106"/>
            <a:chOff x="381000" y="685800"/>
            <a:chExt cx="11620500" cy="16121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Data &amp; Engine Objectives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objective is a single large table to feed to an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update that dataset repeatedly in a manner that aids training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Apply the resultant trained model to real client data and generate measurable improvements to one or more elements of the data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D9A3390-67F0-4843-9B8C-A1DEDF5755BD}"/>
              </a:ext>
            </a:extLst>
          </p:cNvPr>
          <p:cNvGrpSpPr/>
          <p:nvPr/>
        </p:nvGrpSpPr>
        <p:grpSpPr>
          <a:xfrm>
            <a:off x="381000" y="2246153"/>
            <a:ext cx="11620500" cy="965775"/>
            <a:chOff x="381000" y="685800"/>
            <a:chExt cx="11620500" cy="965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6B6DF2-2CB2-4C1A-80AA-95841868A3EA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Key Challenge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736B3A-C585-44E0-92BA-60C2563465C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single file with useful data can not easily be generated directly due to the complexity and dependencies inherent in real and representative SCM data (you have to fake an ERP)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242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SCM Data-Generation 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612106"/>
            <a:chOff x="381000" y="685800"/>
            <a:chExt cx="11620500" cy="16121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Data &amp; Engine Objectives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objective is a single large table to feed to an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update that dataset repeatedly in a manner that aids training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Apply the resultant trained model to real client data and generate measurable improvements to one or more elements of the data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D9A3390-67F0-4843-9B8C-A1DEDF5755BD}"/>
              </a:ext>
            </a:extLst>
          </p:cNvPr>
          <p:cNvGrpSpPr/>
          <p:nvPr/>
        </p:nvGrpSpPr>
        <p:grpSpPr>
          <a:xfrm>
            <a:off x="381000" y="2246153"/>
            <a:ext cx="11620500" cy="965775"/>
            <a:chOff x="381000" y="685800"/>
            <a:chExt cx="11620500" cy="965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6B6DF2-2CB2-4C1A-80AA-95841868A3EA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Key Challenge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736B3A-C585-44E0-92BA-60C2563465C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single file with useful data can not easily be generated directly due to the complexity and dependencies inherent in real and representative SCM data (you have to fake an ERP)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892854-2ECE-4C22-9C02-1D118CD1C401}"/>
              </a:ext>
            </a:extLst>
          </p:cNvPr>
          <p:cNvGrpSpPr/>
          <p:nvPr/>
        </p:nvGrpSpPr>
        <p:grpSpPr>
          <a:xfrm>
            <a:off x="381000" y="3211928"/>
            <a:ext cx="11620500" cy="3227933"/>
            <a:chOff x="381000" y="685800"/>
            <a:chExt cx="11620500" cy="322793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CCF790-358E-40DE-B450-0CD14AAD3045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Resulting Process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588F1E-1186-4E2B-9B91-A00E7B86BF8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2846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Determine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calendar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information (months or weeks, how much history, how much forecast,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Populate one or more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configuration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files that quickly allow creation of representative client data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Using the config files, generate random but representative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master data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(e.g. items, locations)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matrix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that indicates which items have been sold/delivered to which locations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random but representative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per-period data for each item-to-location combination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along with a number of </a:t>
              </a:r>
              <a:r>
                <a:rPr lang="en-US" sz="16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(actual data) and </a:t>
              </a:r>
              <a:r>
                <a:rPr lang="en-US" sz="16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(targets, outcomes)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 that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 data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periods of data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each time feeding the updated dataset to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Assess AI/ML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results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improve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generation, and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repeat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until useful results are gained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861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9382907" y="38433"/>
            <a:ext cx="2732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Topography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1782CD-CF08-4F9D-8ADA-6AB5F4714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33FE8C-1E41-4C8E-8A81-DACE9063885D}"/>
              </a:ext>
            </a:extLst>
          </p:cNvPr>
          <p:cNvSpPr/>
          <p:nvPr/>
        </p:nvSpPr>
        <p:spPr>
          <a:xfrm>
            <a:off x="3368067" y="2524300"/>
            <a:ext cx="2362269" cy="941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hub for code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in one or multiple repositories &amp; subdirectories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C8DA68-ED48-46B8-B2BE-4975235B75C6}"/>
              </a:ext>
            </a:extLst>
          </p:cNvPr>
          <p:cNvSpPr txBox="1"/>
          <p:nvPr/>
        </p:nvSpPr>
        <p:spPr>
          <a:xfrm>
            <a:off x="381000" y="685800"/>
            <a:ext cx="3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Elements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B1A3F-4B8A-4800-9C79-085695F1E468}"/>
              </a:ext>
            </a:extLst>
          </p:cNvPr>
          <p:cNvSpPr txBox="1"/>
          <p:nvPr/>
        </p:nvSpPr>
        <p:spPr>
          <a:xfrm>
            <a:off x="495300" y="1066800"/>
            <a:ext cx="2857500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Application Host / Hub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management (users, roles, security)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 (web and/or mobile)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data (client or data-generation)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 (analytics platform)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engines and tools (e.g. </a:t>
            </a:r>
            <a:r>
              <a:rPr lang="en-US" sz="900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data (e.g., BI, dashboard)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integration (to client systems)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laptop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GitHub directory &amp; repositories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 (optional)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Generation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 files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 data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data (e.g. items, locations)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data (item-to-location combos)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data (per-period, features, labels)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BC4745-876B-4C63-8E1B-EE594A1B1389}"/>
              </a:ext>
            </a:extLst>
          </p:cNvPr>
          <p:cNvSpPr/>
          <p:nvPr/>
        </p:nvSpPr>
        <p:spPr>
          <a:xfrm>
            <a:off x="3368067" y="4246725"/>
            <a:ext cx="2362269" cy="1386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 version of 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copy of any relevant code (repositories)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B25D4E-CE82-4E9F-9A10-CFC2D07C5C1C}"/>
              </a:ext>
            </a:extLst>
          </p:cNvPr>
          <p:cNvSpPr/>
          <p:nvPr/>
        </p:nvSpPr>
        <p:spPr>
          <a:xfrm>
            <a:off x="6202592" y="577806"/>
            <a:ext cx="3055716" cy="49085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application and hub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169B3-E910-462E-9BEF-0208725BA8D9}"/>
              </a:ext>
            </a:extLst>
          </p:cNvPr>
          <p:cNvSpPr/>
          <p:nvPr/>
        </p:nvSpPr>
        <p:spPr>
          <a:xfrm>
            <a:off x="9875818" y="3112242"/>
            <a:ext cx="2071757" cy="1454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Emulates typical client data sources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source data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receive resultant data (improved data, analytics)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AFE752-DAA0-4A91-B526-078EAD873933}"/>
              </a:ext>
            </a:extLst>
          </p:cNvPr>
          <p:cNvSpPr/>
          <p:nvPr/>
        </p:nvSpPr>
        <p:spPr>
          <a:xfrm>
            <a:off x="6755805" y="5766399"/>
            <a:ext cx="2362269" cy="9203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Checklists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1AC492-2F0D-45B9-9812-A91EA88DE24D}"/>
              </a:ext>
            </a:extLst>
          </p:cNvPr>
          <p:cNvCxnSpPr>
            <a:cxnSpLocks/>
            <a:stCxn id="19" idx="0"/>
            <a:endCxn id="14" idx="2"/>
          </p:cNvCxnSpPr>
          <p:nvPr/>
        </p:nvCxnSpPr>
        <p:spPr>
          <a:xfrm flipV="1">
            <a:off x="4549202" y="3465950"/>
            <a:ext cx="0" cy="78077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B546927-1A41-4F03-B932-247904F0B1FC}"/>
              </a:ext>
            </a:extLst>
          </p:cNvPr>
          <p:cNvCxnSpPr>
            <a:cxnSpLocks/>
            <a:stCxn id="14" idx="3"/>
            <a:endCxn id="42" idx="1"/>
          </p:cNvCxnSpPr>
          <p:nvPr/>
        </p:nvCxnSpPr>
        <p:spPr>
          <a:xfrm flipV="1">
            <a:off x="5730336" y="2490872"/>
            <a:ext cx="2064248" cy="50425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FD44CC1-31A8-4D0B-BF2B-727D26A9335A}"/>
              </a:ext>
            </a:extLst>
          </p:cNvPr>
          <p:cNvCxnSpPr>
            <a:cxnSpLocks/>
            <a:stCxn id="19" idx="2"/>
            <a:endCxn id="22" idx="1"/>
          </p:cNvCxnSpPr>
          <p:nvPr/>
        </p:nvCxnSpPr>
        <p:spPr>
          <a:xfrm rot="16200000" flipH="1">
            <a:off x="5355632" y="4826407"/>
            <a:ext cx="593742" cy="2206603"/>
          </a:xfrm>
          <a:prstGeom prst="bentConnector2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2D747A0-57B5-4CB7-BD8D-06F52238B60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525676" y="1987129"/>
            <a:ext cx="2350142" cy="1852243"/>
          </a:xfrm>
          <a:prstGeom prst="bentConnector3">
            <a:avLst>
              <a:gd name="adj1" fmla="val 69862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CC9A0AC-F3E3-4439-9FA6-D3025C82163C}"/>
              </a:ext>
            </a:extLst>
          </p:cNvPr>
          <p:cNvSpPr/>
          <p:nvPr/>
        </p:nvSpPr>
        <p:spPr>
          <a:xfrm>
            <a:off x="6295991" y="1066800"/>
            <a:ext cx="1219200" cy="6939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Mgmt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Users, roles, security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E37A0E-013E-4E4B-BC83-5B15883455F0}"/>
              </a:ext>
            </a:extLst>
          </p:cNvPr>
          <p:cNvSpPr/>
          <p:nvPr/>
        </p:nvSpPr>
        <p:spPr>
          <a:xfrm>
            <a:off x="6306476" y="1910357"/>
            <a:ext cx="1219200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6E1C46-C44E-4EBC-8297-ED38F4F1DD37}"/>
              </a:ext>
            </a:extLst>
          </p:cNvPr>
          <p:cNvSpPr/>
          <p:nvPr/>
        </p:nvSpPr>
        <p:spPr>
          <a:xfrm>
            <a:off x="7794584" y="2117562"/>
            <a:ext cx="1214058" cy="7466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Data-Gen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79A8F9F-7413-479F-836E-61C570A26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29" y="1600200"/>
            <a:ext cx="759047" cy="8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9B7A54C-354A-4D16-B403-11CEE1D465E3}"/>
              </a:ext>
            </a:extLst>
          </p:cNvPr>
          <p:cNvSpPr/>
          <p:nvPr/>
        </p:nvSpPr>
        <p:spPr>
          <a:xfrm>
            <a:off x="7794584" y="1066800"/>
            <a:ext cx="1323490" cy="770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&amp; Easy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1A3437-EAC5-4D73-A952-8F2E901DB639}"/>
              </a:ext>
            </a:extLst>
          </p:cNvPr>
          <p:cNvSpPr/>
          <p:nvPr/>
        </p:nvSpPr>
        <p:spPr>
          <a:xfrm>
            <a:off x="6335739" y="3112243"/>
            <a:ext cx="1458845" cy="5547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 control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9DA73BC-D383-4C57-97B1-7E62D12FEEDA}"/>
              </a:ext>
            </a:extLst>
          </p:cNvPr>
          <p:cNvSpPr/>
          <p:nvPr/>
        </p:nvSpPr>
        <p:spPr>
          <a:xfrm>
            <a:off x="6838852" y="3870865"/>
            <a:ext cx="1534807" cy="7707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model(s)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/ improve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 control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7B90B4-A0AB-403C-9F47-626B13164EEF}"/>
              </a:ext>
            </a:extLst>
          </p:cNvPr>
          <p:cNvSpPr/>
          <p:nvPr/>
        </p:nvSpPr>
        <p:spPr>
          <a:xfrm>
            <a:off x="7874952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Outgoing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D443F46-2F66-451A-83F5-56462BBAACD8}"/>
              </a:ext>
            </a:extLst>
          </p:cNvPr>
          <p:cNvSpPr/>
          <p:nvPr/>
        </p:nvSpPr>
        <p:spPr>
          <a:xfrm>
            <a:off x="6395701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B.I., Dashboards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73CD6ED-FE73-438D-B492-8DB38F4BEA6D}"/>
              </a:ext>
            </a:extLst>
          </p:cNvPr>
          <p:cNvCxnSpPr>
            <a:cxnSpLocks/>
            <a:stCxn id="49" idx="3"/>
            <a:endCxn id="1028" idx="1"/>
          </p:cNvCxnSpPr>
          <p:nvPr/>
        </p:nvCxnSpPr>
        <p:spPr>
          <a:xfrm>
            <a:off x="9118074" y="1452181"/>
            <a:ext cx="1251755" cy="56723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BCD6506-89F4-4636-A1EA-20B528A11AD7}"/>
              </a:ext>
            </a:extLst>
          </p:cNvPr>
          <p:cNvCxnSpPr>
            <a:cxnSpLocks/>
            <a:stCxn id="77" idx="3"/>
            <a:endCxn id="21" idx="1"/>
          </p:cNvCxnSpPr>
          <p:nvPr/>
        </p:nvCxnSpPr>
        <p:spPr>
          <a:xfrm flipV="1">
            <a:off x="9118075" y="3839372"/>
            <a:ext cx="757743" cy="126866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B4202D4F-9D08-4C7C-99E4-807948E50497}"/>
              </a:ext>
            </a:extLst>
          </p:cNvPr>
          <p:cNvCxnSpPr>
            <a:cxnSpLocks/>
            <a:stCxn id="78" idx="0"/>
            <a:endCxn id="61" idx="2"/>
          </p:cNvCxnSpPr>
          <p:nvPr/>
        </p:nvCxnSpPr>
        <p:spPr>
          <a:xfrm rot="5400000" flipH="1" flipV="1">
            <a:off x="7199577" y="4459314"/>
            <a:ext cx="224365" cy="588993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77FB4864-0EDF-404B-A11D-5B80347A54E4}"/>
              </a:ext>
            </a:extLst>
          </p:cNvPr>
          <p:cNvCxnSpPr>
            <a:cxnSpLocks/>
            <a:stCxn id="77" idx="0"/>
            <a:endCxn id="61" idx="2"/>
          </p:cNvCxnSpPr>
          <p:nvPr/>
        </p:nvCxnSpPr>
        <p:spPr>
          <a:xfrm rot="16200000" flipV="1">
            <a:off x="7939203" y="4308681"/>
            <a:ext cx="224365" cy="890258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5862FF3B-CB8E-4209-8D75-14928E0C3938}"/>
              </a:ext>
            </a:extLst>
          </p:cNvPr>
          <p:cNvCxnSpPr>
            <a:cxnSpLocks/>
            <a:stCxn id="61" idx="0"/>
            <a:endCxn id="50" idx="2"/>
          </p:cNvCxnSpPr>
          <p:nvPr/>
        </p:nvCxnSpPr>
        <p:spPr>
          <a:xfrm rot="16200000" flipV="1">
            <a:off x="7233793" y="3498402"/>
            <a:ext cx="203832" cy="541094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4B93966C-6574-4F69-9679-27350DDEE60F}"/>
              </a:ext>
            </a:extLst>
          </p:cNvPr>
          <p:cNvCxnSpPr>
            <a:cxnSpLocks/>
            <a:stCxn id="50" idx="0"/>
            <a:endCxn id="41" idx="2"/>
          </p:cNvCxnSpPr>
          <p:nvPr/>
        </p:nvCxnSpPr>
        <p:spPr>
          <a:xfrm rot="16200000" flipV="1">
            <a:off x="6631723" y="2678804"/>
            <a:ext cx="717792" cy="149086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56835873-6FF7-46E7-9202-1CD56F18F4D5}"/>
              </a:ext>
            </a:extLst>
          </p:cNvPr>
          <p:cNvCxnSpPr>
            <a:cxnSpLocks/>
            <a:stCxn id="50" idx="0"/>
            <a:endCxn id="42" idx="2"/>
          </p:cNvCxnSpPr>
          <p:nvPr/>
        </p:nvCxnSpPr>
        <p:spPr>
          <a:xfrm rot="5400000" flipH="1" flipV="1">
            <a:off x="7609357" y="2319988"/>
            <a:ext cx="248061" cy="1336451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12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Data Generation: Initial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8AA8DFE0-2089-4D3D-9861-E52323646D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126713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17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Data Generation: Improved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661C0AE-DE37-4FA5-B719-161BAA6FC9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65115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872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Data Generation: Eventual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461764-F9C0-4B34-9E3D-73073A9D48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761795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989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Safety Stock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535162"/>
            <a:chOff x="381000" y="685800"/>
            <a:chExt cx="11620500" cy="153516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Why choose </a:t>
              </a:r>
              <a:r>
                <a:rPr lang="en-US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safety-stock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 to assess with AI/ML?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the many factors in a manufacturing or distribution process such as demand (orders, forecast), supply (manufacturing), distribution, lead times, cost &amp; margin… safety stock is a singular value but interacts with several other factors.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 was simply low-hanging fruit to being our Apps Associates AI/ML journey.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D9A3390-67F0-4843-9B8C-A1DEDF5755BD}"/>
              </a:ext>
            </a:extLst>
          </p:cNvPr>
          <p:cNvGrpSpPr/>
          <p:nvPr/>
        </p:nvGrpSpPr>
        <p:grpSpPr>
          <a:xfrm>
            <a:off x="381000" y="2246153"/>
            <a:ext cx="11620500" cy="1288941"/>
            <a:chOff x="381000" y="685800"/>
            <a:chExt cx="11620500" cy="12889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6B6DF2-2CB2-4C1A-80AA-95841868A3EA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Who cares?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736B3A-C585-44E0-92BA-60C2563465C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 stock is not typically very dynamic, often never changing or changing annually or less.  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company that (e.g. high-volume CPG company) can be affected by safety stock.  An intelligent update monthly or quarterly could improve inventory turnover and/or reduce stock-outs (improve service levels).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892854-2ECE-4C22-9C02-1D118CD1C401}"/>
              </a:ext>
            </a:extLst>
          </p:cNvPr>
          <p:cNvGrpSpPr/>
          <p:nvPr/>
        </p:nvGrpSpPr>
        <p:grpSpPr>
          <a:xfrm>
            <a:off x="381000" y="3547646"/>
            <a:ext cx="11620500" cy="1535162"/>
            <a:chOff x="381000" y="685800"/>
            <a:chExt cx="11620500" cy="153516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CCF790-358E-40DE-B450-0CD14AAD3045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Challenges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588F1E-1186-4E2B-9B91-A00E7B86BF8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“supervised” ML model expects to be fed the “right” or “accurate” value and will attempt to calculate and equivalent right/accurate value for newly received data.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challenge is that end-clients typically can’t provide a “right” value; they may have a acceptable value and can often tell you when it is roughly bad, roughly good, and roughly how to improve it.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68C8B7-F5FC-D086-7D2A-3829FB71ECDB}"/>
              </a:ext>
            </a:extLst>
          </p:cNvPr>
          <p:cNvGrpSpPr/>
          <p:nvPr/>
        </p:nvGrpSpPr>
        <p:grpSpPr>
          <a:xfrm>
            <a:off x="381000" y="5094238"/>
            <a:ext cx="11620500" cy="1535162"/>
            <a:chOff x="381000" y="685800"/>
            <a:chExt cx="11620500" cy="153516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E75155-149C-4C19-5C22-7B58BBAD845E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Solution (for development purposes)?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952CCC-747D-6931-C13F-D20CCC182FB7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 will generate an estimated safety stock using a rolling six-period average (based on future periods) and then apply simple math (e.g. 10% or 25% or 200% of orders/forecast) to arrive at an initial safety stock.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initial safety stock will then be “corrected” using some simple IF-THEN logic in an attempt to provide a more accurate/desired value.  This will then be submitted to the ML engine.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974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Safety Stock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689050"/>
            <a:chOff x="381000" y="685800"/>
            <a:chExt cx="11620500" cy="168905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Calculate: initial safety stock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production capacity for a given item/location has to be randomly calculated (affected by config parameters).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production capacity varies with the type of trend and trend-factors (e.g. amplitude).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production capacity affects actual production, less any orders/forecast.  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safety stock is randomly chosen based on the production capacity and safety-stock factor (in config file)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0AD1105-1F65-F4A5-A686-2A03B25E561A}"/>
              </a:ext>
            </a:extLst>
          </p:cNvPr>
          <p:cNvGrpSpPr/>
          <p:nvPr/>
        </p:nvGrpSpPr>
        <p:grpSpPr>
          <a:xfrm>
            <a:off x="381000" y="2449830"/>
            <a:ext cx="11620500" cy="1935272"/>
            <a:chOff x="381000" y="685800"/>
            <a:chExt cx="11620500" cy="193527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5968B4-588A-D414-B208-756422473B5C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Calculate: six-forward-period rolling average of net-requirements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BB0B87-F605-9E34-3675-128FAFC4E9C9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 combination of orders, forecast, and safety stock will product a net-requirement for production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net-requirement can be converted to a rolling average and then used as a guide for safety-stock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 each period a starting, production, consumption, and ending inventory value is calculated.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When the ending inventory either goes negative (stock out) or gets too high (e.g. 3x the average) then the safety stock needs to be adjusted and/or a “max inventory” value set.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ECB36C-50F2-D60D-2BD0-7D87DC349511}"/>
              </a:ext>
            </a:extLst>
          </p:cNvPr>
          <p:cNvGrpSpPr/>
          <p:nvPr/>
        </p:nvGrpSpPr>
        <p:grpSpPr>
          <a:xfrm>
            <a:off x="381000" y="4425315"/>
            <a:ext cx="11620500" cy="1935272"/>
            <a:chOff x="381000" y="685800"/>
            <a:chExt cx="11620500" cy="193527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6F1889-C82D-694A-829E-2EFC467D67F5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Calculate: perform adjustments to create a desired final safety-stock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6C5881C-7DCD-CE08-151C-F5A5387F5277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resulting rolling-average-safety-stock is then multiplied by an arbitrary (client-determined) factor to increase or decrease the scale.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interim result is converted to an outcome range (LABEL): 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VeryLow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Low, OK, High,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VeryHigh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corrective value is determined based on the outcome range.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final corrected safety stock is then placed in the field SafetyStock02 for intake by the AI/ML engine.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18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Production and Inventory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719554"/>
            <a:chOff x="381000" y="685800"/>
            <a:chExt cx="11620500" cy="7195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Starting Inventory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 starting inventory is zero at the first period in history.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0AD1105-1F65-F4A5-A686-2A03B25E561A}"/>
              </a:ext>
            </a:extLst>
          </p:cNvPr>
          <p:cNvGrpSpPr/>
          <p:nvPr/>
        </p:nvGrpSpPr>
        <p:grpSpPr>
          <a:xfrm>
            <a:off x="381000" y="1447800"/>
            <a:ext cx="11620500" cy="2504658"/>
            <a:chOff x="381000" y="685800"/>
            <a:chExt cx="11620500" cy="250465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5968B4-588A-D414-B208-756422473B5C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Production Capacity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BB0B87-F605-9E34-3675-128FAFC4E9C9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a real company production capacity is usually similar to typical demand.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demand too high for capacity either investments would be made to increase capacity or a competitor would emerge to take the remaining demand in the market.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demand is too low for capacity then capacity would be left (if cost effective to do so) or reduced (to free up capital) or the company would suffer losses.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So… capacity is initially set to a value related to the trend for a given ITEM (e.g. the amplitude of a seasonal trend).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 present this capacity remains fixed for the life of the item but this may be improved to alter over time.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ECB36C-50F2-D60D-2BD0-7D87DC349511}"/>
              </a:ext>
            </a:extLst>
          </p:cNvPr>
          <p:cNvGrpSpPr/>
          <p:nvPr/>
        </p:nvGrpSpPr>
        <p:grpSpPr>
          <a:xfrm>
            <a:off x="381000" y="3962400"/>
            <a:ext cx="11620500" cy="719554"/>
            <a:chOff x="381000" y="685800"/>
            <a:chExt cx="11620500" cy="719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6F1889-C82D-694A-829E-2EFC467D67F5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Actual Production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6C5881C-7DCD-CE08-151C-F5A5387F5277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random amount of production will be calculated.  Minimum and maximum capacity affect this calculation.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A6C0E7E-9375-394C-99E9-8CAF6BCBF77C}"/>
              </a:ext>
            </a:extLst>
          </p:cNvPr>
          <p:cNvGrpSpPr/>
          <p:nvPr/>
        </p:nvGrpSpPr>
        <p:grpSpPr>
          <a:xfrm>
            <a:off x="381000" y="4724400"/>
            <a:ext cx="11620500" cy="1858328"/>
            <a:chOff x="381000" y="685800"/>
            <a:chExt cx="11620500" cy="185832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19649C-4278-60A5-FCDE-F2855FB52C4C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Ending Inventory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CBF877-676D-8518-65B1-D9C216AF58FA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During the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COREDATA</a:t>
              </a:r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file creation, each period will be assessed for starting-inventory and ending-inventory based on production and consumption (orders/forecast) each period.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ending-inventory is less than safety stock (or negative) then it is set to the safety-stock (a fill-or-kill scenario).  No “missed volume” is currently moved forward to a future period or periods.  Capacity </a:t>
              </a:r>
              <a:r>
                <a:rPr lang="en-US" sz="160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 not.</a:t>
              </a:r>
              <a:endPara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 is the ending-inventory that is used to determine whether safety-stock is doing its job (bad, OK, good).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561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Supply Chain Terms &amp; Concepts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6326217"/>
            <a:chOff x="381000" y="685800"/>
            <a:chExt cx="11620500" cy="632621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Typical Manufacturing Company Terms &amp; Concepts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5945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4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Something to sell (</a:t>
              </a:r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ITEM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PRODUCT, SKU)</a:t>
              </a:r>
            </a:p>
            <a:p>
              <a:pPr marL="457200" indent="-339725">
                <a:spcAft>
                  <a:spcPts val="4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 entity to sell your product to (customer, </a:t>
              </a:r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distributor,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57200" indent="-339725">
                <a:spcAft>
                  <a:spcPts val="4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Awareness of where your inventory is (manufacturing site, warehouse, distribution center, in transit, at customer).  These are all examples of </a:t>
              </a:r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457200" indent="-339725">
                <a:spcAft>
                  <a:spcPts val="4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Manufacturing locations (could be owned/internal or could be CMOs [contract manufacturing organizations]).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Receiving dock for inbound raw materials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Quality check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Inbound storage 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Manufacturing stages (raw processing, intermediates, finished goods, packaging)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Outbound storage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Terms</a:t>
              </a:r>
            </a:p>
            <a:p>
              <a:pPr marL="1371600" lvl="2" indent="-339725">
                <a:buFont typeface="+mj-lt"/>
                <a:buAutoNum type="arabicParenR"/>
              </a:pP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much you are able to produce on a production line for a given ITEM is called “</a:t>
              </a:r>
              <a:r>
                <a:rPr lang="en-US" sz="10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production capacity</a:t>
              </a: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</a:p>
            <a:p>
              <a:pPr marL="1371600" lvl="2" indent="-339725">
                <a:buFont typeface="+mj-lt"/>
                <a:buAutoNum type="arabicParenR"/>
              </a:pP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There is also “</a:t>
              </a:r>
              <a:r>
                <a:rPr lang="en-US" sz="10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scrap</a:t>
              </a: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 or “</a:t>
              </a:r>
              <a:r>
                <a:rPr lang="en-US" sz="10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rework</a:t>
              </a: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 for material that doesn’t make the grade (quality control).</a:t>
              </a:r>
            </a:p>
            <a:p>
              <a:pPr marL="1371600" lvl="2" indent="-339725">
                <a:buFont typeface="+mj-lt"/>
                <a:buAutoNum type="arabicParenR"/>
              </a:pP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 production “constrained” or “unconstrained”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Shipping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Lead time:  how long ahead of time must a customer order or for you to order materials or produce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Inventory management:  how much (minimum/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safety-stock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or maximum) to keep where (inventory holding cost, inventory turns).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Management (forecasting demand) and Supply Management (internal use of materials)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Software: ERP (Enterprise Resource Planning), Financial (orders, invoices, bulk contracts, cash management), special purpose (e.g. AI/ML, IoT, optimization, data warehouses, data lakes)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Platforms:  in-cloud such as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Oracle Cloud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SaaS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), hybrid (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IaaS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), and on-premise such as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Oracle EBS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(old-school)</a:t>
              </a: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endPara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endPara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361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7C953-4108-403D-AAEB-BE9DA0C856FF}"/>
              </a:ext>
            </a:extLst>
          </p:cNvPr>
          <p:cNvSpPr txBox="1"/>
          <p:nvPr/>
        </p:nvSpPr>
        <p:spPr>
          <a:xfrm>
            <a:off x="381000" y="685800"/>
            <a:ext cx="1150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COREDATA2 from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DataGen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viewed in Excel: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filtering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E58A003-1A01-C4FE-8C06-DAACC4E3C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264507"/>
            <a:ext cx="8229600" cy="5320665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7315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7C953-4108-403D-AAEB-BE9DA0C856FF}"/>
              </a:ext>
            </a:extLst>
          </p:cNvPr>
          <p:cNvSpPr txBox="1"/>
          <p:nvPr/>
        </p:nvSpPr>
        <p:spPr>
          <a:xfrm>
            <a:off x="381000" y="685800"/>
            <a:ext cx="1150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COREDATA2 from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DataGen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viewed in Excel: 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filtering</a:t>
            </a:r>
            <a:endParaRPr 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DADD1F1B-AD33-882D-6EC6-20323F17B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76376"/>
            <a:ext cx="8229600" cy="5324237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084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181219"/>
            <a:chOff x="381000" y="685800"/>
            <a:chExt cx="11620500" cy="1181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GitHub: web top-level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your own personal GitHub.com account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invited to one or more repositories (Apps Associates, Client)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Replicate on your own personal computer for day-to-day work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5FA179-BADD-440D-ABA4-C9BA99756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462" y="1967525"/>
            <a:ext cx="6487276" cy="47442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410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181219"/>
            <a:chOff x="381000" y="685800"/>
            <a:chExt cx="11620500" cy="1181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GitHub: web in-repository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your own personal GitHub.com account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invited to one or more repositories (Apps Associates, Client)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Replicate on your own personal computer for day-to-day work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0EC4CC-30D1-4D8B-8510-E560C8B6F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362" y="1981200"/>
            <a:ext cx="6792076" cy="44681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071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181219"/>
            <a:chOff x="381000" y="685800"/>
            <a:chExt cx="11620500" cy="1181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GitHub: Desktop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Synchronizes to and from the GitHub.com site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Watches for changes in your local directory (or directories) 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Allows multiple team members to update the application code 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2033EB-551C-4755-9EF3-2C61960B5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70150"/>
            <a:ext cx="6688552" cy="45983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B83124A-27CA-469E-A1E7-89B70659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748" y="3352800"/>
            <a:ext cx="4378036" cy="1981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03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7C953-4108-403D-AAEB-BE9DA0C856FF}"/>
              </a:ext>
            </a:extLst>
          </p:cNvPr>
          <p:cNvSpPr txBox="1"/>
          <p:nvPr/>
        </p:nvSpPr>
        <p:spPr>
          <a:xfrm>
            <a:off x="381000" y="6858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EA918-C762-4502-8630-D3A1FC61B286}"/>
              </a:ext>
            </a:extLst>
          </p:cNvPr>
          <p:cNvSpPr txBox="1"/>
          <p:nvPr/>
        </p:nvSpPr>
        <p:spPr>
          <a:xfrm>
            <a:off x="495300" y="1066800"/>
            <a:ext cx="33909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and python libraries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PyCharm IDE (python editor)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 like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NotePad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++ and MS Visual Studio Code 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5ECEDD-CBB8-44FB-BF17-8AD5C66BD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794" y="448056"/>
            <a:ext cx="7429500" cy="616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55C2F1-8798-4FA9-8A99-7B96A0529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123" y="2362200"/>
            <a:ext cx="3708877" cy="294495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85922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181219"/>
            <a:chOff x="381000" y="685800"/>
            <a:chExt cx="11620500" cy="1181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Python directories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Code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Configuration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73BDEE-2341-490B-9E1A-C9967B18D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971" y="1283968"/>
            <a:ext cx="7310029" cy="5373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144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267477" y="2712098"/>
            <a:ext cx="11657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1C81A41D-7753-4940-9569-58AEAAD6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675437"/>
            <a:ext cx="457200" cy="182563"/>
          </a:xfrm>
        </p:spPr>
        <p:txBody>
          <a:bodyPr/>
          <a:lstStyle/>
          <a:p>
            <a:fld id="{2688A826-2A49-4DA8-B1FA-2CABB0B86CE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1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07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8433</TotalTime>
  <Words>2457</Words>
  <Application>Microsoft Office PowerPoint</Application>
  <PresentationFormat>Widescreen</PresentationFormat>
  <Paragraphs>258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Narrow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Allan Barnard</dc:creator>
  <cp:lastModifiedBy>Allan Barnard</cp:lastModifiedBy>
  <cp:revision>266</cp:revision>
  <dcterms:created xsi:type="dcterms:W3CDTF">2020-03-23T01:55:22Z</dcterms:created>
  <dcterms:modified xsi:type="dcterms:W3CDTF">2022-05-18T20:09:21Z</dcterms:modified>
</cp:coreProperties>
</file>